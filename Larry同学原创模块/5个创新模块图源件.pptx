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157AAE"/>
    <a:srgbClr val="CE8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 autoAdjust="0"/>
    <p:restoredTop sz="96623" autoAdjust="0"/>
  </p:normalViewPr>
  <p:slideViewPr>
    <p:cSldViewPr snapToGrid="0">
      <p:cViewPr varScale="1">
        <p:scale>
          <a:sx n="164" d="100"/>
          <a:sy n="164" d="100"/>
        </p:scale>
        <p:origin x="-27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8BE26ED-8F40-487D-BECD-46BE21A79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E9A7B942-DD0A-4C64-882B-BDBDA3CB4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46F96733-390D-4761-9C32-60B9A86F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01499429-1DB3-4B82-905E-5C7B18B3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E5608970-255E-41CC-B46C-8B231AF7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5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18CCF5F-BE0C-47B0-BE6A-CD8EA01D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977A49D1-A7E7-4583-A1C9-B939DFF43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3C508FBD-A241-4D6B-AB62-7E360865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F2260D5-2C72-48BB-8358-CE9150C1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B05902C0-9379-4B35-B4CB-7281D219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5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0B963D5-95BB-4051-BF47-9553AA59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2F68C50-8EA9-44DE-BECC-27318F16D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08911C3-47C8-4109-B0A6-EEC5772D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6D303017-D077-4D92-BEDD-7B14D178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E97A785-AAAE-4EBE-83C6-53123329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55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97C7232-DB41-456D-8232-A5570E20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6EC021D-B6AB-4639-A274-19607A7D0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E7B7FA6C-05EF-4A49-9D91-127999E95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3C68DD98-1488-43C0-8B09-C10CF503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9DEB6D88-A34F-4408-8676-FC26C6F2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941DFB44-7A29-452D-8FAC-20C8A9BA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82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0A5E0E7-58D5-4B75-A542-B2B907E6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B632FD0E-FA23-4D4A-9265-089B57902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AE834EB7-353F-4DA9-BD9D-DF71567D7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941FF56E-C1E8-4330-A78C-56C399EA6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982878B9-D791-4197-86DD-6D5C3CE9C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77B6512D-21BF-4B33-9D8C-02A3427F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C05CD240-BD7E-49F8-A5A8-1AE48BD1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C5931F75-3AFA-4ADD-AD67-79F8270C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BBE0E80-937F-4AE7-8F8F-04E9A7C8A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51901F9E-A878-44A5-A71A-6A44E7DE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23ACC1F1-4280-4C04-975C-4367B38B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7FEE6D52-5DB2-4F35-9C24-BA8B2816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3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8465A234-7239-4274-85DD-8102B7FC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0C0D0D60-F2FE-4D85-B35F-946CA1B5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E2021A88-F5C1-4192-94BA-2707D47A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99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5DCA1E4-D607-4717-B476-B8221AB98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BE63BE13-0038-4D00-A5C7-74C3001C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6756D814-D5EF-4F38-AFCE-B5F6072F1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07C83BF6-6FA7-4AC0-8DAE-F35AA29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DB4D4855-C8AB-4D21-80A3-A9EE8283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80C6270A-DC82-4FF4-AFA8-B5A80DA8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94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6D40B3F-0082-4D5C-9968-D0989976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AB7A61ED-180B-4976-8473-B4A74A0B1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2AE8D23A-AF01-46F7-B046-D35536EA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D9AAB29F-7927-4DB3-B295-1663CACF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6BE3E402-A5CE-40D1-9FE7-067CE91D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1512240D-1E09-4807-9BF4-0B70A739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6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462C28A-7936-49A2-9D94-A80D44FA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7E34F1F1-2CA7-4953-B880-7A79E529A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778E663-5E02-4E61-9E2D-1883B188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AE81BE7F-975B-4554-B961-DEEF7727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FA622E5-DD04-4E6C-ABD9-CEB52E91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6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F67FDDA2-966A-46B9-A783-BA6439F69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29822717-5C00-431E-89AD-1F1D3BFC5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63AE0ADE-A113-4446-9ECE-ED83133E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5E1E627-C4F9-4824-B26F-4042D5F7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7D75028A-8DB0-4370-A2D1-42276250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52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D7B5F28D-D7B3-4ECE-9183-E2DEC681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2F584FE-599A-44AC-AF99-D529FA682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2F10538-7E3D-49B0-9CCE-461E7C596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4C02D-948F-4A92-A31D-76303CEA5002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A7E8C76-C47B-4221-8D6D-7780AA72A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B86F3492-F176-42CA-AF48-CC5B325DE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0D24-34CE-49E8-8017-BE08BC7D4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06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7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0.png"/><Relationship Id="rId5" Type="http://schemas.openxmlformats.org/officeDocument/2006/relationships/image" Target="../media/image49.png"/><Relationship Id="rId15" Type="http://schemas.openxmlformats.org/officeDocument/2006/relationships/image" Target="../media/image57.png"/><Relationship Id="rId10" Type="http://schemas.openxmlformats.org/officeDocument/2006/relationships/image" Target="../media/image500.png"/><Relationship Id="rId19" Type="http://schemas.openxmlformats.org/officeDocument/2006/relationships/image" Target="../media/image61.png"/><Relationship Id="rId4" Type="http://schemas.openxmlformats.org/officeDocument/2006/relationships/image" Target="../media/image470.png"/><Relationship Id="rId9" Type="http://schemas.openxmlformats.org/officeDocument/2006/relationships/image" Target="../media/image53.png"/><Relationship Id="rId1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立方体 109"/>
          <p:cNvSpPr/>
          <p:nvPr/>
        </p:nvSpPr>
        <p:spPr>
          <a:xfrm>
            <a:off x="11167988" y="2600119"/>
            <a:ext cx="358254" cy="385948"/>
          </a:xfrm>
          <a:prstGeom prst="cube">
            <a:avLst>
              <a:gd name="adj" fmla="val 33064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立方体 108"/>
          <p:cNvSpPr/>
          <p:nvPr/>
        </p:nvSpPr>
        <p:spPr>
          <a:xfrm>
            <a:off x="11051459" y="2715124"/>
            <a:ext cx="358254" cy="385948"/>
          </a:xfrm>
          <a:prstGeom prst="cube">
            <a:avLst>
              <a:gd name="adj" fmla="val 33064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立方体 106"/>
          <p:cNvSpPr/>
          <p:nvPr/>
        </p:nvSpPr>
        <p:spPr>
          <a:xfrm>
            <a:off x="10926397" y="3098132"/>
            <a:ext cx="358254" cy="385948"/>
          </a:xfrm>
          <a:prstGeom prst="cube">
            <a:avLst>
              <a:gd name="adj" fmla="val 33064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立方体 107"/>
          <p:cNvSpPr/>
          <p:nvPr/>
        </p:nvSpPr>
        <p:spPr>
          <a:xfrm>
            <a:off x="10926236" y="2839774"/>
            <a:ext cx="358254" cy="385948"/>
          </a:xfrm>
          <a:prstGeom prst="cube">
            <a:avLst>
              <a:gd name="adj" fmla="val 33064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="" xmlns:a16="http://schemas.microsoft.com/office/drawing/2014/main" id="{4D8F97FD-88DA-45FB-907B-18F9CEE80832}"/>
              </a:ext>
            </a:extLst>
          </p:cNvPr>
          <p:cNvSpPr/>
          <p:nvPr/>
        </p:nvSpPr>
        <p:spPr>
          <a:xfrm>
            <a:off x="1016281" y="433796"/>
            <a:ext cx="869942" cy="44630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1×1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="" xmlns:a16="http://schemas.microsoft.com/office/drawing/2014/main" id="{3BC1BD6A-5EDC-4AC3-B4CB-2DD00D5122C3}"/>
              </a:ext>
            </a:extLst>
          </p:cNvPr>
          <p:cNvSpPr/>
          <p:nvPr/>
        </p:nvSpPr>
        <p:spPr>
          <a:xfrm>
            <a:off x="1016281" y="1759678"/>
            <a:ext cx="869942" cy="44630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3×3</a:t>
            </a:r>
          </a:p>
          <a:p>
            <a:pPr algn="ctr"/>
            <a:r>
              <a:rPr lang="en-US" altLang="zh-CN" sz="1000" dirty="0"/>
              <a:t>rate=6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="" xmlns:a16="http://schemas.microsoft.com/office/drawing/2014/main" id="{36F9869D-CD9F-4C79-A8F3-1E35395E597A}"/>
              </a:ext>
            </a:extLst>
          </p:cNvPr>
          <p:cNvSpPr/>
          <p:nvPr/>
        </p:nvSpPr>
        <p:spPr>
          <a:xfrm>
            <a:off x="1016281" y="3085560"/>
            <a:ext cx="869942" cy="44630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3×3</a:t>
            </a:r>
          </a:p>
          <a:p>
            <a:pPr algn="ctr"/>
            <a:r>
              <a:rPr lang="en-US" altLang="zh-CN" sz="1000" dirty="0"/>
              <a:t>rate=12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="" xmlns:a16="http://schemas.microsoft.com/office/drawing/2014/main" id="{82F99C04-FC8A-434F-B894-D38D1CECB1DA}"/>
              </a:ext>
            </a:extLst>
          </p:cNvPr>
          <p:cNvSpPr/>
          <p:nvPr/>
        </p:nvSpPr>
        <p:spPr>
          <a:xfrm>
            <a:off x="1016281" y="4411442"/>
            <a:ext cx="869942" cy="44630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3×3</a:t>
            </a:r>
          </a:p>
          <a:p>
            <a:pPr algn="ctr"/>
            <a:r>
              <a:rPr lang="en-US" altLang="zh-CN" sz="1000" dirty="0"/>
              <a:t>rate=18</a:t>
            </a:r>
          </a:p>
          <a:p>
            <a:pPr algn="ctr"/>
            <a:endParaRPr lang="en-US" altLang="zh-CN" sz="1000" dirty="0"/>
          </a:p>
        </p:txBody>
      </p:sp>
      <p:sp>
        <p:nvSpPr>
          <p:cNvPr id="12" name="矩形: 圆角 11">
            <a:extLst>
              <a:ext uri="{FF2B5EF4-FFF2-40B4-BE49-F238E27FC236}">
                <a16:creationId xmlns="" xmlns:a16="http://schemas.microsoft.com/office/drawing/2014/main" id="{3A4B9C66-0C4A-4C17-BE68-F94F30F3FD59}"/>
              </a:ext>
            </a:extLst>
          </p:cNvPr>
          <p:cNvSpPr/>
          <p:nvPr/>
        </p:nvSpPr>
        <p:spPr>
          <a:xfrm>
            <a:off x="1016281" y="5737324"/>
            <a:ext cx="869942" cy="44630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/>
              <a:t>AvgPool2d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="" xmlns:a16="http://schemas.microsoft.com/office/drawing/2014/main" id="{A165D53D-21A6-401F-8D88-25C241457431}"/>
              </a:ext>
            </a:extLst>
          </p:cNvPr>
          <p:cNvSpPr/>
          <p:nvPr/>
        </p:nvSpPr>
        <p:spPr>
          <a:xfrm>
            <a:off x="2046465" y="586927"/>
            <a:ext cx="291574" cy="13389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="" xmlns:a16="http://schemas.microsoft.com/office/drawing/2014/main" id="{65D8F6EA-439D-41DB-9FC1-2ECAA3F64ADC}"/>
              </a:ext>
            </a:extLst>
          </p:cNvPr>
          <p:cNvSpPr/>
          <p:nvPr/>
        </p:nvSpPr>
        <p:spPr>
          <a:xfrm>
            <a:off x="2046465" y="5876839"/>
            <a:ext cx="291574" cy="13389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="" xmlns:a16="http://schemas.microsoft.com/office/drawing/2014/main" id="{9500A19D-2078-45FB-BD4B-A4747D5D910F}"/>
              </a:ext>
            </a:extLst>
          </p:cNvPr>
          <p:cNvSpPr/>
          <p:nvPr/>
        </p:nvSpPr>
        <p:spPr>
          <a:xfrm>
            <a:off x="2046465" y="4602665"/>
            <a:ext cx="291574" cy="13389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="" xmlns:a16="http://schemas.microsoft.com/office/drawing/2014/main" id="{EE93F59A-248F-4256-B658-B69E3D5A4D9E}"/>
              </a:ext>
            </a:extLst>
          </p:cNvPr>
          <p:cNvSpPr/>
          <p:nvPr/>
        </p:nvSpPr>
        <p:spPr>
          <a:xfrm>
            <a:off x="2046465" y="3261545"/>
            <a:ext cx="291574" cy="13389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="" xmlns:a16="http://schemas.microsoft.com/office/drawing/2014/main" id="{F9D23B7D-7BBC-4D32-9AA1-7FCBD5614CBB}"/>
              </a:ext>
            </a:extLst>
          </p:cNvPr>
          <p:cNvSpPr/>
          <p:nvPr/>
        </p:nvSpPr>
        <p:spPr>
          <a:xfrm>
            <a:off x="2046465" y="1924236"/>
            <a:ext cx="291574" cy="13389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立方体 18">
            <a:extLst>
              <a:ext uri="{FF2B5EF4-FFF2-40B4-BE49-F238E27FC236}">
                <a16:creationId xmlns="" xmlns:a16="http://schemas.microsoft.com/office/drawing/2014/main" id="{D842072C-675D-4EC8-A67F-981F031F9E01}"/>
              </a:ext>
            </a:extLst>
          </p:cNvPr>
          <p:cNvSpPr/>
          <p:nvPr/>
        </p:nvSpPr>
        <p:spPr>
          <a:xfrm>
            <a:off x="2457450" y="182882"/>
            <a:ext cx="291574" cy="839059"/>
          </a:xfrm>
          <a:prstGeom prst="cube">
            <a:avLst>
              <a:gd name="adj" fmla="val 7380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立方体 19">
            <a:extLst>
              <a:ext uri="{FF2B5EF4-FFF2-40B4-BE49-F238E27FC236}">
                <a16:creationId xmlns="" xmlns:a16="http://schemas.microsoft.com/office/drawing/2014/main" id="{30E2F5AE-84CB-4428-9C35-B1C4962ACED5}"/>
              </a:ext>
            </a:extLst>
          </p:cNvPr>
          <p:cNvSpPr/>
          <p:nvPr/>
        </p:nvSpPr>
        <p:spPr>
          <a:xfrm>
            <a:off x="2457450" y="2834646"/>
            <a:ext cx="291574" cy="839059"/>
          </a:xfrm>
          <a:prstGeom prst="cube">
            <a:avLst>
              <a:gd name="adj" fmla="val 73809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立方体 20">
            <a:extLst>
              <a:ext uri="{FF2B5EF4-FFF2-40B4-BE49-F238E27FC236}">
                <a16:creationId xmlns="" xmlns:a16="http://schemas.microsoft.com/office/drawing/2014/main" id="{EA0C4F0A-39E1-4FFE-B7DD-A3D0BA37D546}"/>
              </a:ext>
            </a:extLst>
          </p:cNvPr>
          <p:cNvSpPr/>
          <p:nvPr/>
        </p:nvSpPr>
        <p:spPr>
          <a:xfrm>
            <a:off x="2457450" y="5402582"/>
            <a:ext cx="291574" cy="839059"/>
          </a:xfrm>
          <a:prstGeom prst="cube">
            <a:avLst>
              <a:gd name="adj" fmla="val 738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立方体 21">
            <a:extLst>
              <a:ext uri="{FF2B5EF4-FFF2-40B4-BE49-F238E27FC236}">
                <a16:creationId xmlns="" xmlns:a16="http://schemas.microsoft.com/office/drawing/2014/main" id="{F4ABAA4B-762F-49E5-B356-CF333EFEB03D}"/>
              </a:ext>
            </a:extLst>
          </p:cNvPr>
          <p:cNvSpPr/>
          <p:nvPr/>
        </p:nvSpPr>
        <p:spPr>
          <a:xfrm>
            <a:off x="2457450" y="4181485"/>
            <a:ext cx="291574" cy="839059"/>
          </a:xfrm>
          <a:prstGeom prst="cube">
            <a:avLst>
              <a:gd name="adj" fmla="val 7380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立方体 22">
            <a:extLst>
              <a:ext uri="{FF2B5EF4-FFF2-40B4-BE49-F238E27FC236}">
                <a16:creationId xmlns="" xmlns:a16="http://schemas.microsoft.com/office/drawing/2014/main" id="{394CEB7C-F18E-477A-82C0-CD8CBFBD6A38}"/>
              </a:ext>
            </a:extLst>
          </p:cNvPr>
          <p:cNvSpPr/>
          <p:nvPr/>
        </p:nvSpPr>
        <p:spPr>
          <a:xfrm>
            <a:off x="2457450" y="1487807"/>
            <a:ext cx="291574" cy="839059"/>
          </a:xfrm>
          <a:prstGeom prst="cube">
            <a:avLst>
              <a:gd name="adj" fmla="val 7380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连接符: 肘形 24">
            <a:extLst>
              <a:ext uri="{FF2B5EF4-FFF2-40B4-BE49-F238E27FC236}">
                <a16:creationId xmlns="" xmlns:a16="http://schemas.microsoft.com/office/drawing/2014/main" id="{7DCE3533-9DBE-46F3-864B-3555545A7246}"/>
              </a:ext>
            </a:extLst>
          </p:cNvPr>
          <p:cNvCxnSpPr>
            <a:cxnSpLocks/>
            <a:stCxn id="19" idx="5"/>
          </p:cNvCxnSpPr>
          <p:nvPr/>
        </p:nvCxnSpPr>
        <p:spPr>
          <a:xfrm>
            <a:off x="2749024" y="494808"/>
            <a:ext cx="732080" cy="217137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="" xmlns:a16="http://schemas.microsoft.com/office/drawing/2014/main" id="{4BD6EFF8-7FF3-4D32-AC2D-EF53375FAB33}"/>
              </a:ext>
            </a:extLst>
          </p:cNvPr>
          <p:cNvCxnSpPr>
            <a:cxnSpLocks/>
            <a:stCxn id="23" idx="5"/>
          </p:cNvCxnSpPr>
          <p:nvPr/>
        </p:nvCxnSpPr>
        <p:spPr>
          <a:xfrm>
            <a:off x="2749024" y="1799733"/>
            <a:ext cx="7320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="" xmlns:a16="http://schemas.microsoft.com/office/drawing/2014/main" id="{8ED1F37E-74B6-4A33-9118-68999AE36A07}"/>
              </a:ext>
            </a:extLst>
          </p:cNvPr>
          <p:cNvCxnSpPr>
            <a:cxnSpLocks/>
            <a:stCxn id="20" idx="5"/>
          </p:cNvCxnSpPr>
          <p:nvPr/>
        </p:nvCxnSpPr>
        <p:spPr>
          <a:xfrm>
            <a:off x="2749024" y="3146572"/>
            <a:ext cx="53000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="" xmlns:a16="http://schemas.microsoft.com/office/drawing/2014/main" id="{A4560B9A-DEC2-4624-9707-19F6DE7863FA}"/>
              </a:ext>
            </a:extLst>
          </p:cNvPr>
          <p:cNvCxnSpPr>
            <a:stCxn id="21" idx="5"/>
          </p:cNvCxnSpPr>
          <p:nvPr/>
        </p:nvCxnSpPr>
        <p:spPr>
          <a:xfrm flipV="1">
            <a:off x="2749024" y="3601434"/>
            <a:ext cx="732329" cy="2113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="" xmlns:a16="http://schemas.microsoft.com/office/drawing/2014/main" id="{3619922C-1F54-4D22-9FA2-B8ACC2BDCF7A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2749024" y="4493411"/>
            <a:ext cx="732329" cy="27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="" xmlns:a16="http://schemas.microsoft.com/office/drawing/2014/main" id="{0D981961-BE3B-43D8-919A-3EBE39A4952C}"/>
              </a:ext>
            </a:extLst>
          </p:cNvPr>
          <p:cNvCxnSpPr>
            <a:cxnSpLocks/>
          </p:cNvCxnSpPr>
          <p:nvPr/>
        </p:nvCxnSpPr>
        <p:spPr>
          <a:xfrm>
            <a:off x="3480820" y="2662082"/>
            <a:ext cx="0" cy="2387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="" xmlns:a16="http://schemas.microsoft.com/office/drawing/2014/main" id="{C19FA5B7-4833-41A0-9991-02B5C31C2058}"/>
              </a:ext>
            </a:extLst>
          </p:cNvPr>
          <p:cNvCxnSpPr>
            <a:cxnSpLocks/>
          </p:cNvCxnSpPr>
          <p:nvPr/>
        </p:nvCxnSpPr>
        <p:spPr>
          <a:xfrm flipV="1">
            <a:off x="3481353" y="3386919"/>
            <a:ext cx="249" cy="2165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3279027" y="2954700"/>
            <a:ext cx="592277" cy="3734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+mn-ea"/>
              </a:rPr>
              <a:t>Cat</a:t>
            </a:r>
            <a:endParaRPr lang="zh-CN" altLang="en-US" sz="1000" dirty="0">
              <a:latin typeface="+mn-ea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8ED1F37E-74B6-4A33-9118-68999AE36A07}"/>
              </a:ext>
            </a:extLst>
          </p:cNvPr>
          <p:cNvCxnSpPr>
            <a:cxnSpLocks/>
          </p:cNvCxnSpPr>
          <p:nvPr/>
        </p:nvCxnSpPr>
        <p:spPr>
          <a:xfrm>
            <a:off x="3919431" y="3131826"/>
            <a:ext cx="3492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立方体 26">
            <a:extLst>
              <a:ext uri="{FF2B5EF4-FFF2-40B4-BE49-F238E27FC236}">
                <a16:creationId xmlns="" xmlns:a16="http://schemas.microsoft.com/office/drawing/2014/main" id="{D842072C-675D-4EC8-A67F-981F031F9E01}"/>
              </a:ext>
            </a:extLst>
          </p:cNvPr>
          <p:cNvSpPr/>
          <p:nvPr/>
        </p:nvSpPr>
        <p:spPr>
          <a:xfrm>
            <a:off x="4301611" y="2445241"/>
            <a:ext cx="464820" cy="1074418"/>
          </a:xfrm>
          <a:prstGeom prst="cube">
            <a:avLst>
              <a:gd name="adj" fmla="val 7380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立方体 27">
            <a:extLst>
              <a:ext uri="{FF2B5EF4-FFF2-40B4-BE49-F238E27FC236}">
                <a16:creationId xmlns="" xmlns:a16="http://schemas.microsoft.com/office/drawing/2014/main" id="{394CEB7C-F18E-477A-82C0-CD8CBFBD6A38}"/>
              </a:ext>
            </a:extLst>
          </p:cNvPr>
          <p:cNvSpPr/>
          <p:nvPr/>
        </p:nvSpPr>
        <p:spPr>
          <a:xfrm>
            <a:off x="4416051" y="2445241"/>
            <a:ext cx="464820" cy="1074418"/>
          </a:xfrm>
          <a:prstGeom prst="cube">
            <a:avLst>
              <a:gd name="adj" fmla="val 7380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立方体 28">
            <a:extLst>
              <a:ext uri="{FF2B5EF4-FFF2-40B4-BE49-F238E27FC236}">
                <a16:creationId xmlns="" xmlns:a16="http://schemas.microsoft.com/office/drawing/2014/main" id="{30E2F5AE-84CB-4428-9C35-B1C4962ACED5}"/>
              </a:ext>
            </a:extLst>
          </p:cNvPr>
          <p:cNvSpPr/>
          <p:nvPr/>
        </p:nvSpPr>
        <p:spPr>
          <a:xfrm>
            <a:off x="4534021" y="2445241"/>
            <a:ext cx="464820" cy="1074418"/>
          </a:xfrm>
          <a:prstGeom prst="cube">
            <a:avLst>
              <a:gd name="adj" fmla="val 73809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立方体 29">
            <a:extLst>
              <a:ext uri="{FF2B5EF4-FFF2-40B4-BE49-F238E27FC236}">
                <a16:creationId xmlns="" xmlns:a16="http://schemas.microsoft.com/office/drawing/2014/main" id="{F4ABAA4B-762F-49E5-B356-CF333EFEB03D}"/>
              </a:ext>
            </a:extLst>
          </p:cNvPr>
          <p:cNvSpPr/>
          <p:nvPr/>
        </p:nvSpPr>
        <p:spPr>
          <a:xfrm>
            <a:off x="4648461" y="2445241"/>
            <a:ext cx="464820" cy="1074418"/>
          </a:xfrm>
          <a:prstGeom prst="cube">
            <a:avLst>
              <a:gd name="adj" fmla="val 7380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立方体 30">
            <a:extLst>
              <a:ext uri="{FF2B5EF4-FFF2-40B4-BE49-F238E27FC236}">
                <a16:creationId xmlns="" xmlns:a16="http://schemas.microsoft.com/office/drawing/2014/main" id="{EA0C4F0A-39E1-4FFE-B7DD-A3D0BA37D546}"/>
              </a:ext>
            </a:extLst>
          </p:cNvPr>
          <p:cNvSpPr/>
          <p:nvPr/>
        </p:nvSpPr>
        <p:spPr>
          <a:xfrm>
            <a:off x="4766431" y="2445241"/>
            <a:ext cx="464820" cy="1074418"/>
          </a:xfrm>
          <a:prstGeom prst="cube">
            <a:avLst>
              <a:gd name="adj" fmla="val 738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="" xmlns:a16="http://schemas.microsoft.com/office/drawing/2014/main" id="{4BD6EFF8-7FF3-4D32-AC2D-EF53375FAB33}"/>
              </a:ext>
            </a:extLst>
          </p:cNvPr>
          <p:cNvCxnSpPr>
            <a:cxnSpLocks/>
          </p:cNvCxnSpPr>
          <p:nvPr/>
        </p:nvCxnSpPr>
        <p:spPr>
          <a:xfrm>
            <a:off x="5231251" y="3062530"/>
            <a:ext cx="346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577255" y="2196549"/>
            <a:ext cx="0" cy="20291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5577255" y="1637432"/>
            <a:ext cx="509394" cy="55911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5577255" y="2196549"/>
            <a:ext cx="2493963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5577255" y="3677175"/>
            <a:ext cx="616529" cy="5485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5595579" y="4225709"/>
            <a:ext cx="1508842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16051" y="3492509"/>
                <a:ext cx="464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51" y="3492509"/>
                <a:ext cx="46482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010037" y="3115374"/>
                <a:ext cx="291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037" y="3115374"/>
                <a:ext cx="291574" cy="369332"/>
              </a:xfrm>
              <a:prstGeom prst="rect">
                <a:avLst/>
              </a:prstGeom>
              <a:blipFill rotWithShape="1">
                <a:blip r:embed="rId3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100209" y="2385673"/>
                <a:ext cx="464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209" y="2385673"/>
                <a:ext cx="46482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流程图: 过程 35"/>
          <p:cNvSpPr/>
          <p:nvPr/>
        </p:nvSpPr>
        <p:spPr>
          <a:xfrm>
            <a:off x="6149143" y="1040269"/>
            <a:ext cx="150607" cy="855235"/>
          </a:xfrm>
          <a:prstGeom prst="flowChartProcess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流程图: 过程 46"/>
          <p:cNvSpPr/>
          <p:nvPr/>
        </p:nvSpPr>
        <p:spPr>
          <a:xfrm>
            <a:off x="6872538" y="1256485"/>
            <a:ext cx="150607" cy="422800"/>
          </a:xfrm>
          <a:prstGeom prst="flowChartProcess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7633699" y="1030689"/>
            <a:ext cx="150609" cy="864760"/>
            <a:chOff x="7951692" y="1055483"/>
            <a:chExt cx="150609" cy="864760"/>
          </a:xfrm>
        </p:grpSpPr>
        <p:sp>
          <p:nvSpPr>
            <p:cNvPr id="48" name="流程图: 过程 47"/>
            <p:cNvSpPr/>
            <p:nvPr/>
          </p:nvSpPr>
          <p:spPr>
            <a:xfrm>
              <a:off x="7951694" y="1055483"/>
              <a:ext cx="150607" cy="313735"/>
            </a:xfrm>
            <a:prstGeom prst="flowChartProcess">
              <a:avLst/>
            </a:prstGeom>
            <a:solidFill>
              <a:schemeClr val="accent4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流程图: 过程 48"/>
            <p:cNvSpPr/>
            <p:nvPr/>
          </p:nvSpPr>
          <p:spPr>
            <a:xfrm>
              <a:off x="7951693" y="1654970"/>
              <a:ext cx="150607" cy="265273"/>
            </a:xfrm>
            <a:prstGeom prst="flowChartProcess">
              <a:avLst/>
            </a:prstGeom>
            <a:solidFill>
              <a:schemeClr val="accent6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流程图: 过程 50"/>
            <p:cNvSpPr/>
            <p:nvPr/>
          </p:nvSpPr>
          <p:spPr>
            <a:xfrm>
              <a:off x="7951692" y="1369218"/>
              <a:ext cx="150607" cy="285751"/>
            </a:xfrm>
            <a:prstGeom prst="flowChartProcess">
              <a:avLst/>
            </a:prstGeom>
            <a:solidFill>
              <a:schemeClr val="accent5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" name="直接箭头连接符 37"/>
          <p:cNvCxnSpPr>
            <a:stCxn id="36" idx="3"/>
            <a:endCxn id="47" idx="1"/>
          </p:cNvCxnSpPr>
          <p:nvPr/>
        </p:nvCxnSpPr>
        <p:spPr>
          <a:xfrm flipV="1">
            <a:off x="6299750" y="1467885"/>
            <a:ext cx="572788" cy="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V="1">
            <a:off x="7023147" y="1463069"/>
            <a:ext cx="610554" cy="48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068769" y="732264"/>
                <a:ext cx="2500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769" y="732264"/>
                <a:ext cx="250031" cy="369332"/>
              </a:xfrm>
              <a:prstGeom prst="rect">
                <a:avLst/>
              </a:prstGeom>
              <a:blipFill rotWithShape="1">
                <a:blip r:embed="rId5"/>
                <a:stretch>
                  <a:fillRect r="-2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702775" y="647473"/>
                <a:ext cx="49013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775" y="647473"/>
                <a:ext cx="490131" cy="61093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547220" y="723573"/>
                <a:ext cx="2500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220" y="723573"/>
                <a:ext cx="250031" cy="369332"/>
              </a:xfrm>
              <a:prstGeom prst="rect">
                <a:avLst/>
              </a:prstGeom>
              <a:blipFill rotWithShape="1">
                <a:blip r:embed="rId7"/>
                <a:stretch>
                  <a:fillRect r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椭圆 61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8071218" y="1895025"/>
            <a:ext cx="608699" cy="478143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236150" y="1122552"/>
                <a:ext cx="685059" cy="351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9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900" b="0" i="1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9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altLang="zh-CN" sz="900" b="0" i="1" smtClean="0">
                          <a:latin typeface="Cambria Math"/>
                        </a:rPr>
                        <m:t>×1×1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150" y="1122552"/>
                <a:ext cx="685059" cy="35163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996513" y="1115248"/>
                <a:ext cx="685059" cy="351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9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900" b="0" i="1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9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altLang="zh-CN" sz="900" b="0" i="1" smtClean="0">
                          <a:latin typeface="Cambria Math"/>
                        </a:rPr>
                        <m:t>×1×1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513" y="1115248"/>
                <a:ext cx="685059" cy="35163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接箭头连接符 72"/>
          <p:cNvCxnSpPr>
            <a:stCxn id="51" idx="3"/>
          </p:cNvCxnSpPr>
          <p:nvPr/>
        </p:nvCxnSpPr>
        <p:spPr>
          <a:xfrm>
            <a:off x="7784306" y="1487300"/>
            <a:ext cx="329774" cy="4296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6263913" y="3205877"/>
            <a:ext cx="314766" cy="31476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6578679" y="3205877"/>
            <a:ext cx="314766" cy="31088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263913" y="3526424"/>
            <a:ext cx="314766" cy="3147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6578679" y="3527707"/>
            <a:ext cx="314766" cy="31476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885180" y="3259338"/>
                <a:ext cx="464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180" y="3259338"/>
                <a:ext cx="464820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276187" y="3766776"/>
                <a:ext cx="464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187" y="3766776"/>
                <a:ext cx="464820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528460" y="3683653"/>
                <a:ext cx="62068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0" i="1" smtClean="0">
                          <a:latin typeface="Cambria Math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900" i="1">
                          <a:latin typeface="Cambria Math"/>
                        </a:rPr>
                        <m:t>ig</m:t>
                      </m:r>
                      <m:r>
                        <m:rPr>
                          <m:sty m:val="p"/>
                        </m:rPr>
                        <a:rPr lang="en-US" altLang="zh-CN" sz="900" i="1" smtClean="0">
                          <a:latin typeface="Cambria Math"/>
                        </a:rPr>
                        <m:t>moid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460" y="3683653"/>
                <a:ext cx="620683" cy="2308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箭头连接符 88"/>
          <p:cNvCxnSpPr/>
          <p:nvPr/>
        </p:nvCxnSpPr>
        <p:spPr>
          <a:xfrm>
            <a:off x="6921209" y="3623852"/>
            <a:ext cx="329774" cy="3627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椭圆 90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7175343" y="3951442"/>
            <a:ext cx="608699" cy="478143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94" name="直接箭头连接符 93"/>
          <p:cNvCxnSpPr/>
          <p:nvPr/>
        </p:nvCxnSpPr>
        <p:spPr>
          <a:xfrm>
            <a:off x="8679917" y="2189108"/>
            <a:ext cx="164887" cy="476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7797251" y="4207501"/>
            <a:ext cx="364454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立方体 99">
            <a:extLst>
              <a:ext uri="{FF2B5EF4-FFF2-40B4-BE49-F238E27FC236}">
                <a16:creationId xmlns="" xmlns:a16="http://schemas.microsoft.com/office/drawing/2014/main" id="{30E2F5AE-84CB-4428-9C35-B1C4962ACED5}"/>
              </a:ext>
            </a:extLst>
          </p:cNvPr>
          <p:cNvSpPr/>
          <p:nvPr/>
        </p:nvSpPr>
        <p:spPr>
          <a:xfrm>
            <a:off x="9046190" y="1753669"/>
            <a:ext cx="720653" cy="741965"/>
          </a:xfrm>
          <a:prstGeom prst="cube">
            <a:avLst>
              <a:gd name="adj" fmla="val 16103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立方体 100">
            <a:extLst>
              <a:ext uri="{FF2B5EF4-FFF2-40B4-BE49-F238E27FC236}">
                <a16:creationId xmlns="" xmlns:a16="http://schemas.microsoft.com/office/drawing/2014/main" id="{30E2F5AE-84CB-4428-9C35-B1C4962ACED5}"/>
              </a:ext>
            </a:extLst>
          </p:cNvPr>
          <p:cNvSpPr/>
          <p:nvPr/>
        </p:nvSpPr>
        <p:spPr>
          <a:xfrm>
            <a:off x="8947518" y="1847436"/>
            <a:ext cx="720653" cy="741965"/>
          </a:xfrm>
          <a:prstGeom prst="cube">
            <a:avLst>
              <a:gd name="adj" fmla="val 16103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立方体 101">
            <a:extLst>
              <a:ext uri="{FF2B5EF4-FFF2-40B4-BE49-F238E27FC236}">
                <a16:creationId xmlns="" xmlns:a16="http://schemas.microsoft.com/office/drawing/2014/main" id="{30E2F5AE-84CB-4428-9C35-B1C4962ACED5}"/>
              </a:ext>
            </a:extLst>
          </p:cNvPr>
          <p:cNvSpPr/>
          <p:nvPr/>
        </p:nvSpPr>
        <p:spPr>
          <a:xfrm>
            <a:off x="8839780" y="1958425"/>
            <a:ext cx="720653" cy="741965"/>
          </a:xfrm>
          <a:prstGeom prst="cube">
            <a:avLst>
              <a:gd name="adj" fmla="val 16103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6"/>
                </a:solidFill>
              </a:ln>
              <a:solidFill>
                <a:schemeClr val="accent6"/>
              </a:solidFill>
            </a:endParaRPr>
          </a:p>
        </p:txBody>
      </p:sp>
      <p:sp>
        <p:nvSpPr>
          <p:cNvPr id="2" name="立方体 1"/>
          <p:cNvSpPr/>
          <p:nvPr/>
        </p:nvSpPr>
        <p:spPr>
          <a:xfrm>
            <a:off x="8204822" y="3763928"/>
            <a:ext cx="693486" cy="701931"/>
          </a:xfrm>
          <a:prstGeom prst="cube">
            <a:avLst>
              <a:gd name="adj" fmla="val 59981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立方体 69"/>
          <p:cNvSpPr/>
          <p:nvPr/>
        </p:nvSpPr>
        <p:spPr>
          <a:xfrm>
            <a:off x="8476368" y="3763927"/>
            <a:ext cx="693486" cy="701931"/>
          </a:xfrm>
          <a:prstGeom prst="cube">
            <a:avLst>
              <a:gd name="adj" fmla="val 59981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立方体 70"/>
          <p:cNvSpPr/>
          <p:nvPr/>
        </p:nvSpPr>
        <p:spPr>
          <a:xfrm>
            <a:off x="8204822" y="3484328"/>
            <a:ext cx="693486" cy="701931"/>
          </a:xfrm>
          <a:prstGeom prst="cube">
            <a:avLst>
              <a:gd name="adj" fmla="val 5998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立方体 71"/>
          <p:cNvSpPr/>
          <p:nvPr/>
        </p:nvSpPr>
        <p:spPr>
          <a:xfrm>
            <a:off x="8476368" y="3484327"/>
            <a:ext cx="693486" cy="701931"/>
          </a:xfrm>
          <a:prstGeom prst="cube">
            <a:avLst>
              <a:gd name="adj" fmla="val 5998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90588" y="1645925"/>
                <a:ext cx="10757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𝐺𝑙𝑜𝑏𝑎𝑙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𝑃𝑜𝑜𝑙𝑖𝑛𝑔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588" y="1645925"/>
                <a:ext cx="1075744" cy="246221"/>
              </a:xfrm>
              <a:prstGeom prst="rect">
                <a:avLst/>
              </a:prstGeom>
              <a:blipFill rotWithShape="1">
                <a:blip r:embed="rId1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299750" y="1488005"/>
                <a:ext cx="47775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0" i="1" smtClean="0">
                          <a:latin typeface="Cambria Math"/>
                        </a:rPr>
                        <m:t>𝑅𝑒𝐿𝑢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750" y="1488005"/>
                <a:ext cx="477759" cy="2308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996513" y="1488005"/>
                <a:ext cx="62068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0" i="1" smtClean="0">
                          <a:latin typeface="Cambria Math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900" i="1">
                          <a:latin typeface="Cambria Math"/>
                        </a:rPr>
                        <m:t>ig</m:t>
                      </m:r>
                      <m:r>
                        <m:rPr>
                          <m:sty m:val="p"/>
                        </m:rPr>
                        <a:rPr lang="en-US" altLang="zh-CN" sz="900" i="1" smtClean="0">
                          <a:latin typeface="Cambria Math"/>
                        </a:rPr>
                        <m:t>moid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513" y="1488005"/>
                <a:ext cx="620683" cy="2308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260195" y="3541186"/>
                <a:ext cx="8976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000" i="1">
                          <a:latin typeface="Cambria Math"/>
                        </a:rPr>
                        <m:t>patially</m:t>
                      </m:r>
                      <m:r>
                        <a:rPr lang="en-US" altLang="zh-CN" sz="1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altLang="zh-CN" sz="10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/>
                        </a:rPr>
                        <m:t>𝑅𝑒𝑐𝑎𝑙𝑖𝑏𝑟𝑎𝑡𝑒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195" y="3541186"/>
                <a:ext cx="897617" cy="40011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7782300" y="2354895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/>
                        </a:rPr>
                        <m:t>𝐶h𝑎𝑛𝑛𝑒𝑙</m:t>
                      </m:r>
                      <m:r>
                        <a:rPr lang="en-US" altLang="zh-CN" sz="1000" b="0" i="1" smtClean="0">
                          <a:latin typeface="Cambria Math"/>
                        </a:rPr>
                        <m:t>−</m:t>
                      </m:r>
                      <m:r>
                        <a:rPr lang="en-US" altLang="zh-CN" sz="1000" b="0" i="1" smtClean="0">
                          <a:latin typeface="Cambria Math"/>
                        </a:rPr>
                        <m:t>𝑤𝑖𝑠𝑒</m:t>
                      </m:r>
                    </m:oMath>
                  </m:oMathPara>
                </a14:m>
                <a:endParaRPr lang="en-US" altLang="zh-CN" sz="10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/>
                        </a:rPr>
                        <m:t>𝑅𝑒𝑐𝑎𝑙𝑖𝑏𝑟𝑎𝑡𝑒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00" y="2354895"/>
                <a:ext cx="1102866" cy="40011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接箭头连接符 86"/>
          <p:cNvCxnSpPr>
            <a:endCxn id="90" idx="0"/>
          </p:cNvCxnSpPr>
          <p:nvPr/>
        </p:nvCxnSpPr>
        <p:spPr>
          <a:xfrm>
            <a:off x="9601956" y="2196549"/>
            <a:ext cx="455988" cy="74527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90" idx="4"/>
          </p:cNvCxnSpPr>
          <p:nvPr/>
        </p:nvCxnSpPr>
        <p:spPr>
          <a:xfrm flipV="1">
            <a:off x="9142957" y="3419968"/>
            <a:ext cx="914987" cy="3532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9753594" y="2941825"/>
            <a:ext cx="608699" cy="478143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Add</a:t>
            </a:r>
            <a:endParaRPr lang="zh-CN" altLang="en-US" sz="1000" dirty="0"/>
          </a:p>
        </p:txBody>
      </p:sp>
      <p:cxnSp>
        <p:nvCxnSpPr>
          <p:cNvPr id="92" name="直接箭头连接符 91">
            <a:extLst>
              <a:ext uri="{FF2B5EF4-FFF2-40B4-BE49-F238E27FC236}">
                <a16:creationId xmlns="" xmlns:a16="http://schemas.microsoft.com/office/drawing/2014/main" id="{8ED1F37E-74B6-4A33-9118-68999AE36A07}"/>
              </a:ext>
            </a:extLst>
          </p:cNvPr>
          <p:cNvCxnSpPr>
            <a:cxnSpLocks/>
          </p:cNvCxnSpPr>
          <p:nvPr/>
        </p:nvCxnSpPr>
        <p:spPr>
          <a:xfrm>
            <a:off x="10362293" y="3168944"/>
            <a:ext cx="53000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立方体 63"/>
          <p:cNvSpPr/>
          <p:nvPr/>
        </p:nvSpPr>
        <p:spPr>
          <a:xfrm>
            <a:off x="11399208" y="2868884"/>
            <a:ext cx="358254" cy="385948"/>
          </a:xfrm>
          <a:prstGeom prst="cube">
            <a:avLst>
              <a:gd name="adj" fmla="val 33064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立方体 98"/>
          <p:cNvSpPr/>
          <p:nvPr/>
        </p:nvSpPr>
        <p:spPr>
          <a:xfrm>
            <a:off x="11284490" y="2986067"/>
            <a:ext cx="358254" cy="385948"/>
          </a:xfrm>
          <a:prstGeom prst="cube">
            <a:avLst>
              <a:gd name="adj" fmla="val 330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立方体 103"/>
          <p:cNvSpPr/>
          <p:nvPr/>
        </p:nvSpPr>
        <p:spPr>
          <a:xfrm>
            <a:off x="11399208" y="2600119"/>
            <a:ext cx="358254" cy="385948"/>
          </a:xfrm>
          <a:prstGeom prst="cube">
            <a:avLst>
              <a:gd name="adj" fmla="val 33064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立方体 104"/>
          <p:cNvSpPr/>
          <p:nvPr/>
        </p:nvSpPr>
        <p:spPr>
          <a:xfrm>
            <a:off x="11167988" y="3098131"/>
            <a:ext cx="358254" cy="385948"/>
          </a:xfrm>
          <a:prstGeom prst="cube">
            <a:avLst>
              <a:gd name="adj" fmla="val 33064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立方体 105"/>
          <p:cNvSpPr/>
          <p:nvPr/>
        </p:nvSpPr>
        <p:spPr>
          <a:xfrm>
            <a:off x="11284651" y="2719203"/>
            <a:ext cx="358254" cy="385948"/>
          </a:xfrm>
          <a:prstGeom prst="cube">
            <a:avLst>
              <a:gd name="adj" fmla="val 33064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立方体 102"/>
          <p:cNvSpPr/>
          <p:nvPr/>
        </p:nvSpPr>
        <p:spPr>
          <a:xfrm>
            <a:off x="11167988" y="2838432"/>
            <a:ext cx="358254" cy="385948"/>
          </a:xfrm>
          <a:prstGeom prst="cube">
            <a:avLst>
              <a:gd name="adj" fmla="val 33064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23148" y="5876839"/>
            <a:ext cx="43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MDFA(</a:t>
            </a:r>
            <a:r>
              <a:rPr lang="zh-CN" altLang="en-US" dirty="0"/>
              <a:t>多尺度</a:t>
            </a:r>
            <a:r>
              <a:rPr lang="zh-CN" altLang="en-US"/>
              <a:t>空洞融合模块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9028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立方体 3"/>
          <p:cNvSpPr/>
          <p:nvPr/>
        </p:nvSpPr>
        <p:spPr>
          <a:xfrm>
            <a:off x="299951" y="2164670"/>
            <a:ext cx="835272" cy="872003"/>
          </a:xfrm>
          <a:prstGeom prst="cube">
            <a:avLst>
              <a:gd name="adj" fmla="val 5998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4" idx="0"/>
            <a:endCxn id="25" idx="2"/>
          </p:cNvCxnSpPr>
          <p:nvPr/>
        </p:nvCxnSpPr>
        <p:spPr>
          <a:xfrm flipV="1">
            <a:off x="968089" y="1669631"/>
            <a:ext cx="250701" cy="4950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26" idx="2"/>
          </p:cNvCxnSpPr>
          <p:nvPr/>
        </p:nvCxnSpPr>
        <p:spPr>
          <a:xfrm>
            <a:off x="640316" y="3051356"/>
            <a:ext cx="578474" cy="54862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立方体 24"/>
          <p:cNvSpPr/>
          <p:nvPr/>
        </p:nvSpPr>
        <p:spPr>
          <a:xfrm>
            <a:off x="1218790" y="983127"/>
            <a:ext cx="835272" cy="872003"/>
          </a:xfrm>
          <a:prstGeom prst="cube">
            <a:avLst>
              <a:gd name="adj" fmla="val 5998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立方体 25"/>
          <p:cNvSpPr/>
          <p:nvPr/>
        </p:nvSpPr>
        <p:spPr>
          <a:xfrm>
            <a:off x="1218790" y="2913474"/>
            <a:ext cx="835272" cy="872003"/>
          </a:xfrm>
          <a:prstGeom prst="cube">
            <a:avLst>
              <a:gd name="adj" fmla="val 5998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335274" y="2241191"/>
            <a:ext cx="461665" cy="441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4000" dirty="0"/>
              <a:t>…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15152" y="2323672"/>
                <a:ext cx="3292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152" y="2323672"/>
                <a:ext cx="32925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箭头连接符 32"/>
          <p:cNvCxnSpPr>
            <a:stCxn id="25" idx="5"/>
          </p:cNvCxnSpPr>
          <p:nvPr/>
        </p:nvCxnSpPr>
        <p:spPr>
          <a:xfrm>
            <a:off x="2054062" y="1168626"/>
            <a:ext cx="31273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2054062" y="3112787"/>
            <a:ext cx="289714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2366794" y="309200"/>
            <a:ext cx="9718429" cy="415290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>
                    <a:lumMod val="65000"/>
                  </a:schemeClr>
                </a:solidFill>
              </a:ln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8236" y="2981691"/>
                <a:ext cx="3674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latin typeface="Cambria Math"/>
                        </a:rPr>
                        <m:t>W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36" y="2981691"/>
                <a:ext cx="36740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2735470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35470"/>
                <a:ext cx="343043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71196" y="2225051"/>
                <a:ext cx="3244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96" y="2225051"/>
                <a:ext cx="324448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29308" y="4048582"/>
                <a:ext cx="1414233" cy="507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/>
                            </a:rPr>
                            <m:t>𝐻</m:t>
                          </m:r>
                          <m:r>
                            <a:rPr lang="en-US" altLang="zh-CN" sz="1200" b="0" i="1" smtClean="0">
                              <a:latin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CN" sz="12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latin typeface="Cambria Math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latin typeface="Cambria Math"/>
                                </a:rPr>
                                <m:t>𝐺</m:t>
                              </m:r>
                            </m:den>
                          </m:f>
                          <m:r>
                            <a:rPr lang="en-US" altLang="zh-CN" sz="1200" b="0" i="1" smtClean="0">
                              <a:latin typeface="Cambria Math"/>
                            </a:rPr>
                            <m:t>×</m:t>
                          </m:r>
                          <m:r>
                            <a:rPr lang="en-US" altLang="zh-CN" sz="1200" b="0" i="1" smtClean="0">
                              <a:latin typeface="Cambria Math"/>
                            </a:rPr>
                            <m:t>𝑊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/>
                        </a:rPr>
                        <m:t>×</m:t>
                      </m:r>
                      <m:r>
                        <a:rPr lang="en-US" altLang="zh-CN" sz="1200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08" y="4048582"/>
                <a:ext cx="1414233" cy="50731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204162" y="1807616"/>
                <a:ext cx="3674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latin typeface="Cambria Math"/>
                        </a:rPr>
                        <m:t>W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162" y="1807616"/>
                <a:ext cx="367408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92978" y="1575480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78" y="1575480"/>
                <a:ext cx="343043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064499" y="951527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99" y="951527"/>
                <a:ext cx="438903" cy="62395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093439" y="2873969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39" y="2873969"/>
                <a:ext cx="438903" cy="623953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992231" y="3525835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231" y="3525835"/>
                <a:ext cx="343043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212372" y="3771583"/>
                <a:ext cx="3674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latin typeface="Cambria Math"/>
                        </a:rPr>
                        <m:t>W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372" y="3771583"/>
                <a:ext cx="367408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/>
          <p:cNvCxnSpPr/>
          <p:nvPr/>
        </p:nvCxnSpPr>
        <p:spPr>
          <a:xfrm flipV="1">
            <a:off x="2366795" y="2241191"/>
            <a:ext cx="289714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656509" y="1100028"/>
            <a:ext cx="0" cy="24258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656509" y="1100028"/>
            <a:ext cx="2424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2903467" y="895350"/>
            <a:ext cx="0" cy="11043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2898926" y="895350"/>
            <a:ext cx="39196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2898925" y="1999727"/>
            <a:ext cx="43325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2272307" y="857883"/>
                <a:ext cx="78700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𝐻</m:t>
                      </m:r>
                      <m:r>
                        <a:rPr lang="en-US" altLang="zh-CN" sz="1000" i="1" dirty="0">
                          <a:latin typeface="Cambria Math"/>
                        </a:rPr>
                        <m:t>−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sz="1000" i="1" dirty="0">
                          <a:latin typeface="Cambria Math"/>
                        </a:rPr>
                        <m:t>ir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307" y="857883"/>
                <a:ext cx="787009" cy="246221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2247957" y="3566278"/>
                <a:ext cx="8675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𝑊</m:t>
                      </m:r>
                      <m:r>
                        <a:rPr lang="en-US" altLang="zh-CN" sz="1000" i="1" dirty="0">
                          <a:latin typeface="Cambria Math"/>
                        </a:rPr>
                        <m:t>−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sz="1000" i="1" dirty="0">
                          <a:latin typeface="Cambria Math"/>
                        </a:rPr>
                        <m:t>ir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57" y="3566278"/>
                <a:ext cx="867596" cy="246221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接连接符 70"/>
          <p:cNvCxnSpPr/>
          <p:nvPr/>
        </p:nvCxnSpPr>
        <p:spPr>
          <a:xfrm>
            <a:off x="2661048" y="3525835"/>
            <a:ext cx="2424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2903467" y="3073289"/>
            <a:ext cx="0" cy="9124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2903467" y="3073291"/>
            <a:ext cx="43325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903466" y="3985690"/>
            <a:ext cx="43325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立方体 74"/>
          <p:cNvSpPr/>
          <p:nvPr/>
        </p:nvSpPr>
        <p:spPr>
          <a:xfrm>
            <a:off x="3336721" y="398089"/>
            <a:ext cx="592119" cy="859687"/>
          </a:xfrm>
          <a:prstGeom prst="cube">
            <a:avLst>
              <a:gd name="adj" fmla="val 74128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立方体 75"/>
          <p:cNvSpPr/>
          <p:nvPr/>
        </p:nvSpPr>
        <p:spPr>
          <a:xfrm>
            <a:off x="3336720" y="1360192"/>
            <a:ext cx="592119" cy="859687"/>
          </a:xfrm>
          <a:prstGeom prst="cube">
            <a:avLst>
              <a:gd name="adj" fmla="val 74128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立方体 81"/>
          <p:cNvSpPr/>
          <p:nvPr/>
        </p:nvSpPr>
        <p:spPr>
          <a:xfrm>
            <a:off x="3355210" y="2683151"/>
            <a:ext cx="940566" cy="557367"/>
          </a:xfrm>
          <a:prstGeom prst="cube">
            <a:avLst>
              <a:gd name="adj" fmla="val 74054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立方体 82"/>
          <p:cNvSpPr/>
          <p:nvPr/>
        </p:nvSpPr>
        <p:spPr>
          <a:xfrm>
            <a:off x="3355210" y="3553134"/>
            <a:ext cx="940566" cy="557367"/>
          </a:xfrm>
          <a:prstGeom prst="cube">
            <a:avLst>
              <a:gd name="adj" fmla="val 74054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2512219" y="415014"/>
                <a:ext cx="1557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𝐻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𝑎𝑣𝑔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𝑝𝑜𝑜𝑙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219" y="415014"/>
                <a:ext cx="1557337" cy="246221"/>
              </a:xfrm>
              <a:prstGeom prst="rect">
                <a:avLst/>
              </a:prstGeom>
              <a:blipFill rotWithShape="1">
                <a:blip r:embed="rId1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352150" y="1558918"/>
                <a:ext cx="1557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𝐻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𝑚𝑎𝑥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𝑝𝑜𝑜𝑙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150" y="1558918"/>
                <a:ext cx="1557337" cy="246221"/>
              </a:xfrm>
              <a:prstGeom prst="rect">
                <a:avLst/>
              </a:prstGeom>
              <a:blipFill rotWithShape="1">
                <a:blip r:embed="rId1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456274" y="2737333"/>
                <a:ext cx="1557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/>
                        </a:rPr>
                        <m:t>𝑊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𝑎𝑣𝑔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𝑝𝑜𝑜𝑙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274" y="2737333"/>
                <a:ext cx="1557337" cy="246221"/>
              </a:xfrm>
              <a:prstGeom prst="rect">
                <a:avLst/>
              </a:prstGeom>
              <a:blipFill rotWithShape="1">
                <a:blip r:embed="rId1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377524" y="3708706"/>
                <a:ext cx="1557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/>
                        </a:rPr>
                        <m:t>𝑊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𝑚𝑎𝑥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𝑝𝑜𝑜𝑙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24" y="3708706"/>
                <a:ext cx="1557337" cy="246221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组合 170"/>
          <p:cNvGrpSpPr/>
          <p:nvPr/>
        </p:nvGrpSpPr>
        <p:grpSpPr>
          <a:xfrm>
            <a:off x="3731660" y="1004135"/>
            <a:ext cx="749661" cy="450822"/>
            <a:chOff x="3934861" y="661235"/>
            <a:chExt cx="608564" cy="196648"/>
          </a:xfrm>
        </p:grpSpPr>
        <p:cxnSp>
          <p:nvCxnSpPr>
            <p:cNvPr id="97" name="直接连接符 96"/>
            <p:cNvCxnSpPr/>
            <p:nvPr/>
          </p:nvCxnSpPr>
          <p:spPr>
            <a:xfrm>
              <a:off x="3934861" y="661235"/>
              <a:ext cx="3609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4295776" y="661235"/>
              <a:ext cx="0" cy="1966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>
              <a:off x="4295776" y="857883"/>
              <a:ext cx="2476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组合 169"/>
          <p:cNvGrpSpPr/>
          <p:nvPr/>
        </p:nvGrpSpPr>
        <p:grpSpPr>
          <a:xfrm>
            <a:off x="3731788" y="1801499"/>
            <a:ext cx="749533" cy="196648"/>
            <a:chOff x="3947327" y="1174200"/>
            <a:chExt cx="608564" cy="196648"/>
          </a:xfrm>
        </p:grpSpPr>
        <p:cxnSp>
          <p:nvCxnSpPr>
            <p:cNvPr id="101" name="直接连接符 100"/>
            <p:cNvCxnSpPr/>
            <p:nvPr/>
          </p:nvCxnSpPr>
          <p:spPr>
            <a:xfrm>
              <a:off x="3947327" y="1370848"/>
              <a:ext cx="3609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4305302" y="1174200"/>
              <a:ext cx="0" cy="1966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>
              <a:off x="4308242" y="1174200"/>
              <a:ext cx="2476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矩形 114"/>
          <p:cNvSpPr/>
          <p:nvPr/>
        </p:nvSpPr>
        <p:spPr>
          <a:xfrm>
            <a:off x="4481709" y="1213384"/>
            <a:ext cx="2838451" cy="22602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8" name="组合 177"/>
          <p:cNvGrpSpPr/>
          <p:nvPr/>
        </p:nvGrpSpPr>
        <p:grpSpPr>
          <a:xfrm>
            <a:off x="4102667" y="3008082"/>
            <a:ext cx="379042" cy="203030"/>
            <a:chOff x="4102667" y="3008082"/>
            <a:chExt cx="379042" cy="203030"/>
          </a:xfrm>
        </p:grpSpPr>
        <p:cxnSp>
          <p:nvCxnSpPr>
            <p:cNvPr id="111" name="直接箭头连接符 110"/>
            <p:cNvCxnSpPr/>
            <p:nvPr/>
          </p:nvCxnSpPr>
          <p:spPr>
            <a:xfrm>
              <a:off x="4258994" y="3204730"/>
              <a:ext cx="2227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4102667" y="3008082"/>
              <a:ext cx="1563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4258994" y="3008082"/>
              <a:ext cx="0" cy="2030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组合 178"/>
          <p:cNvGrpSpPr/>
          <p:nvPr/>
        </p:nvGrpSpPr>
        <p:grpSpPr>
          <a:xfrm>
            <a:off x="4169569" y="3451357"/>
            <a:ext cx="311753" cy="387194"/>
            <a:chOff x="4169569" y="3451357"/>
            <a:chExt cx="311753" cy="387194"/>
          </a:xfrm>
        </p:grpSpPr>
        <p:cxnSp>
          <p:nvCxnSpPr>
            <p:cNvPr id="113" name="直接箭头连接符 112"/>
            <p:cNvCxnSpPr/>
            <p:nvPr/>
          </p:nvCxnSpPr>
          <p:spPr>
            <a:xfrm>
              <a:off x="4251464" y="3451357"/>
              <a:ext cx="22985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V="1">
              <a:off x="4169569" y="3831817"/>
              <a:ext cx="81895" cy="67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4251464" y="3451357"/>
              <a:ext cx="7530" cy="3871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3078365" y="987440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365" y="987440"/>
                <a:ext cx="343043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/>
              <p:cNvSpPr txBox="1"/>
              <p:nvPr/>
            </p:nvSpPr>
            <p:spPr>
              <a:xfrm>
                <a:off x="3265756" y="1177958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7" name="TextBox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56" y="1177958"/>
                <a:ext cx="311304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3676415" y="813962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415" y="813962"/>
                <a:ext cx="438903" cy="623953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/>
              <p:cNvSpPr txBox="1"/>
              <p:nvPr/>
            </p:nvSpPr>
            <p:spPr>
              <a:xfrm>
                <a:off x="3265756" y="2164670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0" name="TextBox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56" y="2164670"/>
                <a:ext cx="311304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/>
              <p:cNvSpPr txBox="1"/>
              <p:nvPr/>
            </p:nvSpPr>
            <p:spPr>
              <a:xfrm>
                <a:off x="3088825" y="1974977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1" name="TextBox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825" y="1974977"/>
                <a:ext cx="343043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>
                <a:off x="3632780" y="1801499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780" y="1801499"/>
                <a:ext cx="438903" cy="623953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/>
              <p:cNvSpPr txBox="1"/>
              <p:nvPr/>
            </p:nvSpPr>
            <p:spPr>
              <a:xfrm>
                <a:off x="3094234" y="3051356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4" name="TextBox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234" y="3051356"/>
                <a:ext cx="311304" cy="276999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3090856" y="3938703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56" y="3938703"/>
                <a:ext cx="311304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/>
              <p:cNvSpPr txBox="1"/>
              <p:nvPr/>
            </p:nvSpPr>
            <p:spPr>
              <a:xfrm>
                <a:off x="3431868" y="3167581"/>
                <a:ext cx="3782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TextBox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868" y="3167581"/>
                <a:ext cx="378245" cy="276999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3465416" y="4048582"/>
                <a:ext cx="3782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416" y="4048582"/>
                <a:ext cx="378245" cy="276999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3968800" y="2797620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800" y="2797620"/>
                <a:ext cx="438903" cy="623953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/>
              <p:cNvSpPr txBox="1"/>
              <p:nvPr/>
            </p:nvSpPr>
            <p:spPr>
              <a:xfrm>
                <a:off x="3921393" y="3875104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159" name="TextBox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393" y="3875104"/>
                <a:ext cx="438903" cy="623953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流程图: 过程 160"/>
          <p:cNvSpPr/>
          <p:nvPr/>
        </p:nvSpPr>
        <p:spPr>
          <a:xfrm>
            <a:off x="5329434" y="1741238"/>
            <a:ext cx="528639" cy="639535"/>
          </a:xfrm>
          <a:prstGeom prst="flowChartProcess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Batch</a:t>
            </a:r>
          </a:p>
          <a:p>
            <a:pPr algn="ctr"/>
            <a:r>
              <a:rPr lang="en-US" altLang="zh-CN" sz="1000" dirty="0"/>
              <a:t>Norm</a:t>
            </a:r>
            <a:endParaRPr lang="zh-CN" altLang="en-US" sz="1000" dirty="0"/>
          </a:p>
        </p:txBody>
      </p:sp>
      <p:sp>
        <p:nvSpPr>
          <p:cNvPr id="162" name="流程图: 过程 161"/>
          <p:cNvSpPr/>
          <p:nvPr/>
        </p:nvSpPr>
        <p:spPr>
          <a:xfrm>
            <a:off x="5990891" y="1748749"/>
            <a:ext cx="490311" cy="639535"/>
          </a:xfrm>
          <a:prstGeom prst="flowChartProcess">
            <a:avLst/>
          </a:prstGeom>
          <a:solidFill>
            <a:srgbClr val="CE84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ReLu</a:t>
            </a:r>
            <a:endParaRPr lang="zh-CN" altLang="en-US" sz="1000" dirty="0"/>
          </a:p>
        </p:txBody>
      </p:sp>
      <p:sp>
        <p:nvSpPr>
          <p:cNvPr id="163" name="流程图: 过程 162"/>
          <p:cNvSpPr/>
          <p:nvPr/>
        </p:nvSpPr>
        <p:spPr>
          <a:xfrm>
            <a:off x="4605151" y="1747748"/>
            <a:ext cx="624271" cy="639535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1×1</a:t>
            </a:r>
            <a:endParaRPr lang="zh-CN" altLang="en-US" sz="1000" dirty="0"/>
          </a:p>
        </p:txBody>
      </p:sp>
      <p:sp>
        <p:nvSpPr>
          <p:cNvPr id="164" name="流程图: 过程 163"/>
          <p:cNvSpPr/>
          <p:nvPr/>
        </p:nvSpPr>
        <p:spPr>
          <a:xfrm>
            <a:off x="6608958" y="1739490"/>
            <a:ext cx="625477" cy="639535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1×1</a:t>
            </a:r>
            <a:endParaRPr lang="zh-CN" altLang="en-US" sz="1000" dirty="0"/>
          </a:p>
        </p:txBody>
      </p:sp>
      <p:sp>
        <p:nvSpPr>
          <p:cNvPr id="165" name="手杖形箭头 164"/>
          <p:cNvSpPr/>
          <p:nvPr/>
        </p:nvSpPr>
        <p:spPr>
          <a:xfrm>
            <a:off x="4860136" y="1603676"/>
            <a:ext cx="626461" cy="80055"/>
          </a:xfrm>
          <a:prstGeom prst="uturn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6" name="手杖形箭头 165"/>
          <p:cNvSpPr/>
          <p:nvPr/>
        </p:nvSpPr>
        <p:spPr>
          <a:xfrm>
            <a:off x="5609586" y="1603675"/>
            <a:ext cx="626461" cy="80055"/>
          </a:xfrm>
          <a:prstGeom prst="uturn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7" name="手杖形箭头 166"/>
          <p:cNvSpPr/>
          <p:nvPr/>
        </p:nvSpPr>
        <p:spPr>
          <a:xfrm>
            <a:off x="6336511" y="1603674"/>
            <a:ext cx="626461" cy="80055"/>
          </a:xfrm>
          <a:prstGeom prst="uturnArrow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4839460" y="2536161"/>
            <a:ext cx="2302861" cy="76686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Shared Cross-Dimension </a:t>
            </a:r>
          </a:p>
          <a:p>
            <a:pPr algn="ctr"/>
            <a:r>
              <a:rPr lang="en-US" altLang="zh-CN" sz="1400" dirty="0"/>
              <a:t>Interaction</a:t>
            </a:r>
            <a:endParaRPr lang="zh-CN" altLang="en-US" sz="1400" dirty="0"/>
          </a:p>
        </p:txBody>
      </p:sp>
      <p:grpSp>
        <p:nvGrpSpPr>
          <p:cNvPr id="188" name="组合 187"/>
          <p:cNvGrpSpPr/>
          <p:nvPr/>
        </p:nvGrpSpPr>
        <p:grpSpPr>
          <a:xfrm>
            <a:off x="7320160" y="1129075"/>
            <a:ext cx="466528" cy="627002"/>
            <a:chOff x="7320160" y="1454957"/>
            <a:chExt cx="466528" cy="301119"/>
          </a:xfrm>
        </p:grpSpPr>
        <p:cxnSp>
          <p:nvCxnSpPr>
            <p:cNvPr id="181" name="直接连接符 180"/>
            <p:cNvCxnSpPr/>
            <p:nvPr/>
          </p:nvCxnSpPr>
          <p:spPr>
            <a:xfrm>
              <a:off x="7320160" y="1603676"/>
              <a:ext cx="2379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V="1">
              <a:off x="7558088" y="1454957"/>
              <a:ext cx="0" cy="1524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 flipV="1">
              <a:off x="7558088" y="1603674"/>
              <a:ext cx="0" cy="1524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箭头连接符 185"/>
            <p:cNvCxnSpPr/>
            <p:nvPr/>
          </p:nvCxnSpPr>
          <p:spPr>
            <a:xfrm>
              <a:off x="7558088" y="1454957"/>
              <a:ext cx="2286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/>
            <p:cNvCxnSpPr/>
            <p:nvPr/>
          </p:nvCxnSpPr>
          <p:spPr>
            <a:xfrm>
              <a:off x="7558088" y="1753708"/>
              <a:ext cx="2286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组合 188"/>
          <p:cNvGrpSpPr/>
          <p:nvPr/>
        </p:nvGrpSpPr>
        <p:grpSpPr>
          <a:xfrm>
            <a:off x="7320160" y="2871194"/>
            <a:ext cx="466528" cy="654641"/>
            <a:chOff x="7320160" y="1454957"/>
            <a:chExt cx="466528" cy="301119"/>
          </a:xfrm>
        </p:grpSpPr>
        <p:cxnSp>
          <p:nvCxnSpPr>
            <p:cNvPr id="190" name="直接连接符 189"/>
            <p:cNvCxnSpPr/>
            <p:nvPr/>
          </p:nvCxnSpPr>
          <p:spPr>
            <a:xfrm>
              <a:off x="7320160" y="1603676"/>
              <a:ext cx="23792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 flipV="1">
              <a:off x="7558088" y="1454957"/>
              <a:ext cx="0" cy="1524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 flipV="1">
              <a:off x="7558088" y="1603674"/>
              <a:ext cx="0" cy="1524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92"/>
            <p:cNvCxnSpPr/>
            <p:nvPr/>
          </p:nvCxnSpPr>
          <p:spPr>
            <a:xfrm>
              <a:off x="7558088" y="1454957"/>
              <a:ext cx="2286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93"/>
            <p:cNvCxnSpPr/>
            <p:nvPr/>
          </p:nvCxnSpPr>
          <p:spPr>
            <a:xfrm>
              <a:off x="7558088" y="1753708"/>
              <a:ext cx="2286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" name="立方体 194"/>
          <p:cNvSpPr/>
          <p:nvPr/>
        </p:nvSpPr>
        <p:spPr>
          <a:xfrm>
            <a:off x="7856532" y="398089"/>
            <a:ext cx="592119" cy="859687"/>
          </a:xfrm>
          <a:prstGeom prst="cube">
            <a:avLst>
              <a:gd name="adj" fmla="val 7412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立方体 195"/>
          <p:cNvSpPr/>
          <p:nvPr/>
        </p:nvSpPr>
        <p:spPr>
          <a:xfrm>
            <a:off x="7856531" y="1330330"/>
            <a:ext cx="592119" cy="859687"/>
          </a:xfrm>
          <a:prstGeom prst="cube">
            <a:avLst>
              <a:gd name="adj" fmla="val 74128"/>
            </a:avLst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立方体 196"/>
          <p:cNvSpPr/>
          <p:nvPr/>
        </p:nvSpPr>
        <p:spPr>
          <a:xfrm>
            <a:off x="7786688" y="2502050"/>
            <a:ext cx="940566" cy="557367"/>
          </a:xfrm>
          <a:prstGeom prst="cube">
            <a:avLst>
              <a:gd name="adj" fmla="val 74054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立方体 198"/>
          <p:cNvSpPr/>
          <p:nvPr/>
        </p:nvSpPr>
        <p:spPr>
          <a:xfrm>
            <a:off x="7682308" y="3352715"/>
            <a:ext cx="940566" cy="557367"/>
          </a:xfrm>
          <a:prstGeom prst="cube">
            <a:avLst>
              <a:gd name="adj" fmla="val 74054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0" name="组合 219"/>
          <p:cNvGrpSpPr/>
          <p:nvPr/>
        </p:nvGrpSpPr>
        <p:grpSpPr>
          <a:xfrm>
            <a:off x="8448651" y="608470"/>
            <a:ext cx="404837" cy="286880"/>
            <a:chOff x="8448651" y="608470"/>
            <a:chExt cx="404837" cy="286880"/>
          </a:xfrm>
        </p:grpSpPr>
        <p:cxnSp>
          <p:nvCxnSpPr>
            <p:cNvPr id="208" name="直接连接符 207"/>
            <p:cNvCxnSpPr>
              <a:stCxn id="195" idx="5"/>
            </p:cNvCxnSpPr>
            <p:nvPr/>
          </p:nvCxnSpPr>
          <p:spPr>
            <a:xfrm>
              <a:off x="8448651" y="608470"/>
              <a:ext cx="4048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箭头连接符 215"/>
            <p:cNvCxnSpPr/>
            <p:nvPr/>
          </p:nvCxnSpPr>
          <p:spPr>
            <a:xfrm>
              <a:off x="8853488" y="608470"/>
              <a:ext cx="0" cy="2868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/>
          <p:cNvGrpSpPr/>
          <p:nvPr/>
        </p:nvGrpSpPr>
        <p:grpSpPr>
          <a:xfrm>
            <a:off x="8465307" y="1213384"/>
            <a:ext cx="404837" cy="368606"/>
            <a:chOff x="8465307" y="1213384"/>
            <a:chExt cx="404837" cy="368606"/>
          </a:xfrm>
        </p:grpSpPr>
        <p:cxnSp>
          <p:nvCxnSpPr>
            <p:cNvPr id="212" name="直接连接符 211"/>
            <p:cNvCxnSpPr/>
            <p:nvPr/>
          </p:nvCxnSpPr>
          <p:spPr>
            <a:xfrm>
              <a:off x="8465307" y="1581990"/>
              <a:ext cx="4048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箭头连接符 217"/>
            <p:cNvCxnSpPr/>
            <p:nvPr/>
          </p:nvCxnSpPr>
          <p:spPr>
            <a:xfrm flipV="1">
              <a:off x="8853488" y="1213384"/>
              <a:ext cx="0" cy="3620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9" name="椭圆 218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8701313" y="936833"/>
            <a:ext cx="304350" cy="19224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grpSp>
        <p:nvGrpSpPr>
          <p:cNvPr id="221" name="组合 220"/>
          <p:cNvGrpSpPr/>
          <p:nvPr/>
        </p:nvGrpSpPr>
        <p:grpSpPr>
          <a:xfrm>
            <a:off x="8524835" y="2797620"/>
            <a:ext cx="383887" cy="286880"/>
            <a:chOff x="8448651" y="608470"/>
            <a:chExt cx="404837" cy="286880"/>
          </a:xfrm>
        </p:grpSpPr>
        <p:cxnSp>
          <p:nvCxnSpPr>
            <p:cNvPr id="222" name="直接连接符 221"/>
            <p:cNvCxnSpPr/>
            <p:nvPr/>
          </p:nvCxnSpPr>
          <p:spPr>
            <a:xfrm>
              <a:off x="8448651" y="608470"/>
              <a:ext cx="4048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箭头连接符 222"/>
            <p:cNvCxnSpPr/>
            <p:nvPr/>
          </p:nvCxnSpPr>
          <p:spPr>
            <a:xfrm>
              <a:off x="8853488" y="608470"/>
              <a:ext cx="0" cy="2868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组合 224"/>
          <p:cNvGrpSpPr/>
          <p:nvPr/>
        </p:nvGrpSpPr>
        <p:grpSpPr>
          <a:xfrm>
            <a:off x="8420455" y="3341532"/>
            <a:ext cx="509217" cy="368606"/>
            <a:chOff x="8465307" y="1213384"/>
            <a:chExt cx="404837" cy="368606"/>
          </a:xfrm>
        </p:grpSpPr>
        <p:cxnSp>
          <p:nvCxnSpPr>
            <p:cNvPr id="226" name="直接连接符 225"/>
            <p:cNvCxnSpPr/>
            <p:nvPr/>
          </p:nvCxnSpPr>
          <p:spPr>
            <a:xfrm>
              <a:off x="8465307" y="1581990"/>
              <a:ext cx="4048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箭头连接符 226"/>
            <p:cNvCxnSpPr/>
            <p:nvPr/>
          </p:nvCxnSpPr>
          <p:spPr>
            <a:xfrm flipV="1">
              <a:off x="8853488" y="1213384"/>
              <a:ext cx="0" cy="3620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8" name="椭圆 227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8753065" y="3103634"/>
            <a:ext cx="304350" cy="19224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29" name="立方体 228"/>
          <p:cNvSpPr/>
          <p:nvPr/>
        </p:nvSpPr>
        <p:spPr>
          <a:xfrm>
            <a:off x="9231832" y="551149"/>
            <a:ext cx="592119" cy="859687"/>
          </a:xfrm>
          <a:prstGeom prst="cube">
            <a:avLst>
              <a:gd name="adj" fmla="val 74128"/>
            </a:avLst>
          </a:prstGeom>
          <a:solidFill>
            <a:srgbClr val="00FFFF"/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立方体 229"/>
          <p:cNvSpPr/>
          <p:nvPr/>
        </p:nvSpPr>
        <p:spPr>
          <a:xfrm>
            <a:off x="9277291" y="2751909"/>
            <a:ext cx="940566" cy="557367"/>
          </a:xfrm>
          <a:prstGeom prst="cube">
            <a:avLst>
              <a:gd name="adj" fmla="val 74054"/>
            </a:avLst>
          </a:prstGeom>
          <a:solidFill>
            <a:srgbClr val="157AAE"/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1" name="直接箭头连接符 230"/>
          <p:cNvCxnSpPr/>
          <p:nvPr/>
        </p:nvCxnSpPr>
        <p:spPr>
          <a:xfrm>
            <a:off x="9005663" y="1014715"/>
            <a:ext cx="21987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>
            <a:off x="9057415" y="3204730"/>
            <a:ext cx="21987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TextBox 234"/>
              <p:cNvSpPr txBox="1"/>
              <p:nvPr/>
            </p:nvSpPr>
            <p:spPr>
              <a:xfrm>
                <a:off x="8905240" y="1153689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5" name="TextBox 2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240" y="1153689"/>
                <a:ext cx="343043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/>
              <p:cNvSpPr txBox="1"/>
              <p:nvPr/>
            </p:nvSpPr>
            <p:spPr>
              <a:xfrm>
                <a:off x="9167353" y="1392632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6" name="TextBox 2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353" y="1392632"/>
                <a:ext cx="311304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/>
              <p:cNvSpPr txBox="1"/>
              <p:nvPr/>
            </p:nvSpPr>
            <p:spPr>
              <a:xfrm>
                <a:off x="9555531" y="1035706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237" name="TextBox 2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531" y="1035706"/>
                <a:ext cx="438903" cy="623953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/>
              <p:cNvSpPr txBox="1"/>
              <p:nvPr/>
            </p:nvSpPr>
            <p:spPr>
              <a:xfrm>
                <a:off x="9042594" y="3180972"/>
                <a:ext cx="3113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8" name="TextBox 2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594" y="3180972"/>
                <a:ext cx="311304" cy="276999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/>
              <p:cNvSpPr txBox="1"/>
              <p:nvPr/>
            </p:nvSpPr>
            <p:spPr>
              <a:xfrm>
                <a:off x="9396795" y="3243964"/>
                <a:ext cx="3782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9" name="TextBox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795" y="3243964"/>
                <a:ext cx="378245" cy="276999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/>
              <p:cNvSpPr txBox="1"/>
              <p:nvPr/>
            </p:nvSpPr>
            <p:spPr>
              <a:xfrm>
                <a:off x="9904863" y="2944962"/>
                <a:ext cx="438903" cy="623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200" b="0" i="1" dirty="0" smtClean="0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US" altLang="zh-CN" sz="1200" b="0" dirty="0"/>
              </a:p>
              <a:p>
                <a:endParaRPr lang="zh-CN" altLang="en-US" sz="1200" dirty="0"/>
              </a:p>
            </p:txBody>
          </p:sp>
        </mc:Choice>
        <mc:Fallback xmlns="">
          <p:sp>
            <p:nvSpPr>
              <p:cNvPr id="240" name="TextBox 2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863" y="2944962"/>
                <a:ext cx="438903" cy="62395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4" name="组合 273"/>
          <p:cNvGrpSpPr/>
          <p:nvPr/>
        </p:nvGrpSpPr>
        <p:grpSpPr>
          <a:xfrm>
            <a:off x="411940" y="2219879"/>
            <a:ext cx="10490840" cy="3106766"/>
            <a:chOff x="411940" y="2219879"/>
            <a:chExt cx="10490840" cy="3106766"/>
          </a:xfrm>
        </p:grpSpPr>
        <p:cxnSp>
          <p:nvCxnSpPr>
            <p:cNvPr id="242" name="直接连接符 241"/>
            <p:cNvCxnSpPr>
              <a:stCxn id="7" idx="2"/>
            </p:cNvCxnSpPr>
            <p:nvPr/>
          </p:nvCxnSpPr>
          <p:spPr>
            <a:xfrm>
              <a:off x="411940" y="3258690"/>
              <a:ext cx="10740" cy="19934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>
              <a:off x="411940" y="5252180"/>
              <a:ext cx="10485145" cy="744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箭头连接符 245"/>
            <p:cNvCxnSpPr/>
            <p:nvPr/>
          </p:nvCxnSpPr>
          <p:spPr>
            <a:xfrm flipV="1">
              <a:off x="10897085" y="2219879"/>
              <a:ext cx="5695" cy="31067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0" name="组合 269"/>
          <p:cNvGrpSpPr/>
          <p:nvPr/>
        </p:nvGrpSpPr>
        <p:grpSpPr>
          <a:xfrm>
            <a:off x="9947740" y="2084615"/>
            <a:ext cx="808561" cy="667294"/>
            <a:chOff x="9947740" y="2084615"/>
            <a:chExt cx="808561" cy="667294"/>
          </a:xfrm>
        </p:grpSpPr>
        <p:cxnSp>
          <p:nvCxnSpPr>
            <p:cNvPr id="248" name="直接连接符 247"/>
            <p:cNvCxnSpPr>
              <a:stCxn id="230" idx="0"/>
            </p:cNvCxnSpPr>
            <p:nvPr/>
          </p:nvCxnSpPr>
          <p:spPr>
            <a:xfrm flipH="1" flipV="1">
              <a:off x="9947740" y="2084615"/>
              <a:ext cx="6210" cy="6672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/>
            <p:cNvCxnSpPr>
              <a:endCxn id="261" idx="2"/>
            </p:cNvCxnSpPr>
            <p:nvPr/>
          </p:nvCxnSpPr>
          <p:spPr>
            <a:xfrm>
              <a:off x="9947740" y="2084615"/>
              <a:ext cx="80856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组合 268"/>
          <p:cNvGrpSpPr/>
          <p:nvPr/>
        </p:nvGrpSpPr>
        <p:grpSpPr>
          <a:xfrm>
            <a:off x="9823951" y="756720"/>
            <a:ext cx="1088726" cy="1222482"/>
            <a:chOff x="9823951" y="756720"/>
            <a:chExt cx="1088726" cy="1222482"/>
          </a:xfrm>
        </p:grpSpPr>
        <p:cxnSp>
          <p:nvCxnSpPr>
            <p:cNvPr id="252" name="直接连接符 251"/>
            <p:cNvCxnSpPr>
              <a:stCxn id="229" idx="5"/>
            </p:cNvCxnSpPr>
            <p:nvPr/>
          </p:nvCxnSpPr>
          <p:spPr>
            <a:xfrm flipV="1">
              <a:off x="9823951" y="756720"/>
              <a:ext cx="1084525" cy="48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箭头连接符 253"/>
            <p:cNvCxnSpPr/>
            <p:nvPr/>
          </p:nvCxnSpPr>
          <p:spPr>
            <a:xfrm>
              <a:off x="10908476" y="756720"/>
              <a:ext cx="4201" cy="12224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1" name="椭圆 260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10756301" y="1988494"/>
            <a:ext cx="304350" cy="19224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275" name="立方体 274"/>
          <p:cNvSpPr/>
          <p:nvPr/>
        </p:nvSpPr>
        <p:spPr>
          <a:xfrm>
            <a:off x="11203832" y="1464451"/>
            <a:ext cx="835272" cy="872003"/>
          </a:xfrm>
          <a:prstGeom prst="cube">
            <a:avLst>
              <a:gd name="adj" fmla="val 59981"/>
            </a:avLst>
          </a:prstGeom>
          <a:solidFill>
            <a:schemeClr val="accent2">
              <a:lumMod val="60000"/>
              <a:lumOff val="40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6" name="直接箭头连接符 275"/>
          <p:cNvCxnSpPr>
            <a:stCxn id="261" idx="6"/>
          </p:cNvCxnSpPr>
          <p:nvPr/>
        </p:nvCxnSpPr>
        <p:spPr>
          <a:xfrm flipV="1">
            <a:off x="11060651" y="2081438"/>
            <a:ext cx="143181" cy="31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/>
              <p:cNvSpPr txBox="1"/>
              <p:nvPr/>
            </p:nvSpPr>
            <p:spPr>
              <a:xfrm>
                <a:off x="10908476" y="2113598"/>
                <a:ext cx="34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8" name="TextBox 2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8476" y="2113598"/>
                <a:ext cx="343043" cy="276999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/>
              <p:cNvSpPr txBox="1"/>
              <p:nvPr/>
            </p:nvSpPr>
            <p:spPr>
              <a:xfrm>
                <a:off x="11203832" y="2279762"/>
                <a:ext cx="3674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latin typeface="Cambria Math"/>
                        </a:rPr>
                        <m:t>W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9" name="TextBox 2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3832" y="2279762"/>
                <a:ext cx="367408" cy="276999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/>
              <p:cNvSpPr txBox="1"/>
              <p:nvPr/>
            </p:nvSpPr>
            <p:spPr>
              <a:xfrm>
                <a:off x="11089295" y="1568269"/>
                <a:ext cx="3244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0" name="TextBox 2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9295" y="1568269"/>
                <a:ext cx="324448" cy="276999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TextBox 280"/>
          <p:cNvSpPr txBox="1"/>
          <p:nvPr/>
        </p:nvSpPr>
        <p:spPr>
          <a:xfrm>
            <a:off x="7161021" y="5830245"/>
            <a:ext cx="43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GGCA(</a:t>
            </a:r>
            <a:r>
              <a:rPr lang="zh-CN" altLang="en-US" dirty="0"/>
              <a:t>全局分组坐标注意力模块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113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圆角矩形 188"/>
          <p:cNvSpPr/>
          <p:nvPr/>
        </p:nvSpPr>
        <p:spPr>
          <a:xfrm>
            <a:off x="6355522" y="4511557"/>
            <a:ext cx="5080660" cy="2047945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圆角矩形 185"/>
          <p:cNvSpPr/>
          <p:nvPr/>
        </p:nvSpPr>
        <p:spPr>
          <a:xfrm>
            <a:off x="215949" y="148623"/>
            <a:ext cx="5054551" cy="2115829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814592" y="1552765"/>
            <a:ext cx="2209165" cy="27286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53196" y="2349170"/>
            <a:ext cx="860612" cy="720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5596" y="2501570"/>
            <a:ext cx="860612" cy="720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7996" y="2653970"/>
            <a:ext cx="860612" cy="720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4473733" y="2645699"/>
            <a:ext cx="608699" cy="478143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667589" y="1742055"/>
            <a:ext cx="273050" cy="558126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667589" y="2300181"/>
            <a:ext cx="273050" cy="5581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667589" y="3421375"/>
            <a:ext cx="273050" cy="55812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667589" y="2863249"/>
            <a:ext cx="273050" cy="5581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7516901" y="3421375"/>
            <a:ext cx="273050" cy="558126"/>
            <a:chOff x="5664200" y="4178300"/>
            <a:chExt cx="273050" cy="2237446"/>
          </a:xfrm>
        </p:grpSpPr>
        <p:sp>
          <p:nvSpPr>
            <p:cNvPr id="19" name="矩形 18"/>
            <p:cNvSpPr/>
            <p:nvPr/>
          </p:nvSpPr>
          <p:spPr>
            <a:xfrm>
              <a:off x="5664200" y="4178300"/>
              <a:ext cx="273050" cy="558126"/>
            </a:xfrm>
            <a:prstGeom prst="rect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5664200" y="4736426"/>
              <a:ext cx="273050" cy="5581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5664200" y="5857620"/>
              <a:ext cx="273050" cy="55812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664200" y="5299494"/>
              <a:ext cx="273050" cy="55812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516901" y="2857691"/>
            <a:ext cx="273050" cy="558126"/>
            <a:chOff x="5664200" y="4178300"/>
            <a:chExt cx="273050" cy="2237446"/>
          </a:xfrm>
        </p:grpSpPr>
        <p:sp>
          <p:nvSpPr>
            <p:cNvPr id="26" name="矩形 25"/>
            <p:cNvSpPr/>
            <p:nvPr/>
          </p:nvSpPr>
          <p:spPr>
            <a:xfrm>
              <a:off x="5664200" y="4178300"/>
              <a:ext cx="273050" cy="558126"/>
            </a:xfrm>
            <a:prstGeom prst="rect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5664200" y="4736425"/>
              <a:ext cx="273050" cy="5581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5664200" y="5857620"/>
              <a:ext cx="273050" cy="55812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664200" y="5299494"/>
              <a:ext cx="273050" cy="55812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516901" y="2299565"/>
            <a:ext cx="273050" cy="558126"/>
            <a:chOff x="5664200" y="4178300"/>
            <a:chExt cx="273050" cy="2237446"/>
          </a:xfrm>
        </p:grpSpPr>
        <p:sp>
          <p:nvSpPr>
            <p:cNvPr id="31" name="矩形 30"/>
            <p:cNvSpPr/>
            <p:nvPr/>
          </p:nvSpPr>
          <p:spPr>
            <a:xfrm>
              <a:off x="5664200" y="4178300"/>
              <a:ext cx="273050" cy="558126"/>
            </a:xfrm>
            <a:prstGeom prst="rect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664200" y="4736426"/>
              <a:ext cx="273050" cy="5581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5664200" y="5857620"/>
              <a:ext cx="273050" cy="55812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5664200" y="5299494"/>
              <a:ext cx="273050" cy="55812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516901" y="1741439"/>
            <a:ext cx="273050" cy="558126"/>
            <a:chOff x="5664200" y="4178300"/>
            <a:chExt cx="273050" cy="2237446"/>
          </a:xfrm>
        </p:grpSpPr>
        <p:sp>
          <p:nvSpPr>
            <p:cNvPr id="36" name="矩形 35"/>
            <p:cNvSpPr/>
            <p:nvPr/>
          </p:nvSpPr>
          <p:spPr>
            <a:xfrm>
              <a:off x="5664200" y="4178300"/>
              <a:ext cx="273050" cy="558126"/>
            </a:xfrm>
            <a:prstGeom prst="rect">
              <a:avLst/>
            </a:prstGeom>
            <a:solidFill>
              <a:srgbClr val="00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5664200" y="4736426"/>
              <a:ext cx="273050" cy="55812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5664200" y="5857620"/>
              <a:ext cx="273050" cy="55812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5664200" y="5299494"/>
              <a:ext cx="273050" cy="55812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1" name="直接箭头连接符 40"/>
          <p:cNvCxnSpPr/>
          <p:nvPr/>
        </p:nvCxnSpPr>
        <p:spPr>
          <a:xfrm>
            <a:off x="6940639" y="3909889"/>
            <a:ext cx="576262" cy="0"/>
          </a:xfrm>
          <a:prstGeom prst="straightConnector1">
            <a:avLst/>
          </a:prstGeom>
          <a:ln w="127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51" idx="3"/>
          </p:cNvCxnSpPr>
          <p:nvPr/>
        </p:nvCxnSpPr>
        <p:spPr>
          <a:xfrm flipV="1">
            <a:off x="6940639" y="3346207"/>
            <a:ext cx="576262" cy="422180"/>
          </a:xfrm>
          <a:prstGeom prst="straightConnector1">
            <a:avLst/>
          </a:prstGeom>
          <a:ln w="127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52" idx="3"/>
            <a:endCxn id="33" idx="1"/>
          </p:cNvCxnSpPr>
          <p:nvPr/>
        </p:nvCxnSpPr>
        <p:spPr>
          <a:xfrm flipV="1">
            <a:off x="6940639" y="2788080"/>
            <a:ext cx="576262" cy="841084"/>
          </a:xfrm>
          <a:prstGeom prst="straightConnector1">
            <a:avLst/>
          </a:prstGeom>
          <a:ln w="127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8" idx="1"/>
          </p:cNvCxnSpPr>
          <p:nvPr/>
        </p:nvCxnSpPr>
        <p:spPr>
          <a:xfrm flipV="1">
            <a:off x="6940639" y="2229954"/>
            <a:ext cx="576262" cy="1262214"/>
          </a:xfrm>
          <a:prstGeom prst="straightConnector1">
            <a:avLst/>
          </a:prstGeom>
          <a:ln w="127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667589" y="3837998"/>
            <a:ext cx="273050" cy="1392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6667589" y="3698775"/>
            <a:ext cx="273050" cy="1392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6667589" y="3559552"/>
            <a:ext cx="273050" cy="1392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6046877" y="1741439"/>
            <a:ext cx="273050" cy="558126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46877" y="2299565"/>
            <a:ext cx="273050" cy="5581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046877" y="2862633"/>
            <a:ext cx="273050" cy="5581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6046877" y="3421375"/>
            <a:ext cx="273050" cy="55812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667589" y="3283543"/>
            <a:ext cx="273050" cy="13922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6667589" y="3144320"/>
            <a:ext cx="273050" cy="13922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6667589" y="3005444"/>
            <a:ext cx="273050" cy="13922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6667589" y="2728114"/>
            <a:ext cx="273050" cy="1392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6667589" y="2588891"/>
            <a:ext cx="273050" cy="1392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6667589" y="2449668"/>
            <a:ext cx="273050" cy="1392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6667589" y="2160341"/>
            <a:ext cx="273050" cy="139223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667589" y="2019885"/>
            <a:ext cx="273050" cy="139223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667589" y="1880661"/>
            <a:ext cx="273050" cy="139223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箭头连接符 68"/>
          <p:cNvCxnSpPr>
            <a:endCxn id="36" idx="1"/>
          </p:cNvCxnSpPr>
          <p:nvPr/>
        </p:nvCxnSpPr>
        <p:spPr>
          <a:xfrm>
            <a:off x="6940639" y="1811050"/>
            <a:ext cx="576262" cy="1"/>
          </a:xfrm>
          <a:prstGeom prst="straightConnector1">
            <a:avLst/>
          </a:prstGeom>
          <a:ln w="12700">
            <a:solidFill>
              <a:srgbClr val="00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31" idx="1"/>
          </p:cNvCxnSpPr>
          <p:nvPr/>
        </p:nvCxnSpPr>
        <p:spPr>
          <a:xfrm>
            <a:off x="6940639" y="1963451"/>
            <a:ext cx="576262" cy="405726"/>
          </a:xfrm>
          <a:prstGeom prst="straightConnector1">
            <a:avLst/>
          </a:prstGeom>
          <a:ln w="12700">
            <a:solidFill>
              <a:srgbClr val="00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endCxn id="26" idx="1"/>
          </p:cNvCxnSpPr>
          <p:nvPr/>
        </p:nvCxnSpPr>
        <p:spPr>
          <a:xfrm>
            <a:off x="6940639" y="2090728"/>
            <a:ext cx="576262" cy="836575"/>
          </a:xfrm>
          <a:prstGeom prst="straightConnector1">
            <a:avLst/>
          </a:prstGeom>
          <a:ln w="12700">
            <a:solidFill>
              <a:srgbClr val="00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37" idx="1"/>
          </p:cNvCxnSpPr>
          <p:nvPr/>
        </p:nvCxnSpPr>
        <p:spPr>
          <a:xfrm flipV="1">
            <a:off x="6940639" y="1950274"/>
            <a:ext cx="576262" cy="425014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endCxn id="19" idx="1"/>
          </p:cNvCxnSpPr>
          <p:nvPr/>
        </p:nvCxnSpPr>
        <p:spPr>
          <a:xfrm>
            <a:off x="6940639" y="2229954"/>
            <a:ext cx="576262" cy="1261033"/>
          </a:xfrm>
          <a:prstGeom prst="straightConnector1">
            <a:avLst/>
          </a:prstGeom>
          <a:ln w="12700">
            <a:solidFill>
              <a:srgbClr val="00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6940639" y="2519279"/>
            <a:ext cx="576262" cy="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endCxn id="27" idx="1"/>
          </p:cNvCxnSpPr>
          <p:nvPr/>
        </p:nvCxnSpPr>
        <p:spPr>
          <a:xfrm>
            <a:off x="6940639" y="2658501"/>
            <a:ext cx="576262" cy="40802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endCxn id="20" idx="1"/>
          </p:cNvCxnSpPr>
          <p:nvPr/>
        </p:nvCxnSpPr>
        <p:spPr>
          <a:xfrm>
            <a:off x="6940639" y="2792901"/>
            <a:ext cx="576262" cy="837309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endCxn id="39" idx="1"/>
          </p:cNvCxnSpPr>
          <p:nvPr/>
        </p:nvCxnSpPr>
        <p:spPr>
          <a:xfrm flipV="1">
            <a:off x="6940639" y="2090730"/>
            <a:ext cx="576262" cy="854399"/>
          </a:xfrm>
          <a:prstGeom prst="straightConnector1">
            <a:avLst/>
          </a:prstGeom>
          <a:ln w="127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endCxn id="34" idx="1"/>
          </p:cNvCxnSpPr>
          <p:nvPr/>
        </p:nvCxnSpPr>
        <p:spPr>
          <a:xfrm flipV="1">
            <a:off x="6940639" y="2648856"/>
            <a:ext cx="576262" cy="417669"/>
          </a:xfrm>
          <a:prstGeom prst="straightConnector1">
            <a:avLst/>
          </a:prstGeom>
          <a:ln w="127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endCxn id="29" idx="1"/>
          </p:cNvCxnSpPr>
          <p:nvPr/>
        </p:nvCxnSpPr>
        <p:spPr>
          <a:xfrm flipV="1">
            <a:off x="6940639" y="3206982"/>
            <a:ext cx="576262" cy="1640"/>
          </a:xfrm>
          <a:prstGeom prst="straightConnector1">
            <a:avLst/>
          </a:prstGeom>
          <a:ln w="127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endCxn id="22" idx="1"/>
          </p:cNvCxnSpPr>
          <p:nvPr/>
        </p:nvCxnSpPr>
        <p:spPr>
          <a:xfrm>
            <a:off x="6940639" y="3353284"/>
            <a:ext cx="576262" cy="417382"/>
          </a:xfrm>
          <a:prstGeom prst="straightConnector1">
            <a:avLst/>
          </a:prstGeom>
          <a:ln w="127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421526" y="3985004"/>
            <a:ext cx="1095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Channel Shuffle</a:t>
            </a:r>
            <a:endParaRPr lang="zh-CN" altLang="en-US" sz="1000" dirty="0"/>
          </a:p>
        </p:txBody>
      </p:sp>
      <p:sp>
        <p:nvSpPr>
          <p:cNvPr id="94" name="矩形 93"/>
          <p:cNvSpPr/>
          <p:nvPr/>
        </p:nvSpPr>
        <p:spPr>
          <a:xfrm>
            <a:off x="566405" y="520473"/>
            <a:ext cx="1935592" cy="419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endParaRPr lang="zh-CN" altLang="en-US" sz="1000" dirty="0"/>
          </a:p>
        </p:txBody>
      </p:sp>
      <p:cxnSp>
        <p:nvCxnSpPr>
          <p:cNvPr id="96" name="直接箭头连接符 95"/>
          <p:cNvCxnSpPr/>
          <p:nvPr/>
        </p:nvCxnSpPr>
        <p:spPr>
          <a:xfrm>
            <a:off x="1396474" y="824000"/>
            <a:ext cx="321119" cy="92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644621" y="703970"/>
                <a:ext cx="8096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𝐶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×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𝐻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×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21" y="703970"/>
                <a:ext cx="809625" cy="246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704672" y="704894"/>
                <a:ext cx="82272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𝑊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×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𝐻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×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672" y="704894"/>
                <a:ext cx="822727" cy="24622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/>
          <p:cNvSpPr txBox="1"/>
          <p:nvPr/>
        </p:nvSpPr>
        <p:spPr>
          <a:xfrm>
            <a:off x="1049433" y="484012"/>
            <a:ext cx="8627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permutation</a:t>
            </a:r>
            <a:endParaRPr lang="zh-CN" altLang="en-US" sz="1000" dirty="0"/>
          </a:p>
        </p:txBody>
      </p:sp>
      <p:sp>
        <p:nvSpPr>
          <p:cNvPr id="103" name="流程图: 对照 102"/>
          <p:cNvSpPr/>
          <p:nvPr/>
        </p:nvSpPr>
        <p:spPr>
          <a:xfrm rot="5400000">
            <a:off x="3201641" y="310239"/>
            <a:ext cx="531415" cy="876300"/>
          </a:xfrm>
          <a:prstGeom prst="flowChartCollat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279924" y="236460"/>
            <a:ext cx="472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MLP</a:t>
            </a:r>
            <a:endParaRPr lang="zh-CN" altLang="en-US" sz="1000" dirty="0"/>
          </a:p>
        </p:txBody>
      </p:sp>
      <p:sp>
        <p:nvSpPr>
          <p:cNvPr id="105" name="矩形 104"/>
          <p:cNvSpPr/>
          <p:nvPr/>
        </p:nvSpPr>
        <p:spPr>
          <a:xfrm>
            <a:off x="4194707" y="530671"/>
            <a:ext cx="862737" cy="419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/>
          </a:p>
          <a:p>
            <a:pPr algn="ctr"/>
            <a:endParaRPr lang="zh-CN" alt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209114" y="520473"/>
            <a:ext cx="862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Reverse</a:t>
            </a:r>
          </a:p>
          <a:p>
            <a:r>
              <a:rPr lang="en-US" altLang="zh-CN" sz="1000" dirty="0"/>
              <a:t>permutation</a:t>
            </a:r>
            <a:endParaRPr lang="zh-CN" altLang="en-US" sz="1000" dirty="0"/>
          </a:p>
        </p:txBody>
      </p:sp>
      <p:sp>
        <p:nvSpPr>
          <p:cNvPr id="111" name="流程图: 联系 110"/>
          <p:cNvSpPr/>
          <p:nvPr/>
        </p:nvSpPr>
        <p:spPr>
          <a:xfrm>
            <a:off x="4569574" y="1580546"/>
            <a:ext cx="397728" cy="39772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4" name="曲线连接符 113"/>
          <p:cNvCxnSpPr/>
          <p:nvPr/>
        </p:nvCxnSpPr>
        <p:spPr>
          <a:xfrm>
            <a:off x="4654289" y="1677550"/>
            <a:ext cx="228298" cy="20372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 flipV="1">
            <a:off x="305596" y="1220483"/>
            <a:ext cx="645459" cy="8411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圆角矩形 127"/>
          <p:cNvSpPr/>
          <p:nvPr/>
        </p:nvSpPr>
        <p:spPr>
          <a:xfrm>
            <a:off x="6386044" y="5315416"/>
            <a:ext cx="880008" cy="60007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7×7</a:t>
            </a:r>
            <a:endParaRPr lang="zh-CN" altLang="en-US" sz="1000" dirty="0"/>
          </a:p>
        </p:txBody>
      </p:sp>
      <p:sp>
        <p:nvSpPr>
          <p:cNvPr id="129" name="矩形 128"/>
          <p:cNvSpPr/>
          <p:nvPr/>
        </p:nvSpPr>
        <p:spPr>
          <a:xfrm>
            <a:off x="7765961" y="5208002"/>
            <a:ext cx="860612" cy="72076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7918361" y="5360402"/>
            <a:ext cx="860612" cy="72076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圆角矩形 130"/>
          <p:cNvSpPr/>
          <p:nvPr/>
        </p:nvSpPr>
        <p:spPr>
          <a:xfrm>
            <a:off x="8976317" y="5315415"/>
            <a:ext cx="880008" cy="600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7×7</a:t>
            </a:r>
            <a:endParaRPr lang="zh-CN" altLang="en-US" sz="1000" dirty="0"/>
          </a:p>
        </p:txBody>
      </p:sp>
      <p:sp>
        <p:nvSpPr>
          <p:cNvPr id="132" name="矩形 131"/>
          <p:cNvSpPr/>
          <p:nvPr/>
        </p:nvSpPr>
        <p:spPr>
          <a:xfrm>
            <a:off x="10023386" y="5208000"/>
            <a:ext cx="860612" cy="72076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10175786" y="5360400"/>
            <a:ext cx="860612" cy="72076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10328186" y="5512800"/>
            <a:ext cx="860612" cy="72076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箭头连接符 134"/>
          <p:cNvCxnSpPr/>
          <p:nvPr/>
        </p:nvCxnSpPr>
        <p:spPr>
          <a:xfrm flipH="1" flipV="1">
            <a:off x="10424158" y="4958433"/>
            <a:ext cx="3277" cy="2101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流程图: 联系 136"/>
          <p:cNvSpPr/>
          <p:nvPr/>
        </p:nvSpPr>
        <p:spPr>
          <a:xfrm>
            <a:off x="10208364" y="4540329"/>
            <a:ext cx="397728" cy="39772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8" name="曲线连接符 137"/>
          <p:cNvCxnSpPr/>
          <p:nvPr/>
        </p:nvCxnSpPr>
        <p:spPr>
          <a:xfrm>
            <a:off x="10302178" y="4655364"/>
            <a:ext cx="228298" cy="20372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 flipH="1" flipV="1">
            <a:off x="10086975" y="3222331"/>
            <a:ext cx="300047" cy="121155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椭圆 141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9719036" y="2653970"/>
            <a:ext cx="608699" cy="478143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144" name="直接箭头连接符 143"/>
          <p:cNvCxnSpPr/>
          <p:nvPr/>
        </p:nvCxnSpPr>
        <p:spPr>
          <a:xfrm>
            <a:off x="10387021" y="2897007"/>
            <a:ext cx="436754" cy="13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/>
          <p:cNvSpPr/>
          <p:nvPr/>
        </p:nvSpPr>
        <p:spPr>
          <a:xfrm>
            <a:off x="10883998" y="2302353"/>
            <a:ext cx="860612" cy="72076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11036398" y="2454753"/>
            <a:ext cx="860612" cy="72076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/>
          <p:cNvSpPr/>
          <p:nvPr/>
        </p:nvSpPr>
        <p:spPr>
          <a:xfrm>
            <a:off x="11188798" y="2607153"/>
            <a:ext cx="860612" cy="72076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0" name="直接箭头连接符 149"/>
          <p:cNvCxnSpPr/>
          <p:nvPr/>
        </p:nvCxnSpPr>
        <p:spPr>
          <a:xfrm>
            <a:off x="2571750" y="740431"/>
            <a:ext cx="40355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/>
        </p:nvCxnSpPr>
        <p:spPr>
          <a:xfrm>
            <a:off x="3905499" y="750632"/>
            <a:ext cx="2521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4762634" y="1014097"/>
            <a:ext cx="5804" cy="4956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>
            <a:off x="4772279" y="2052190"/>
            <a:ext cx="5804" cy="4956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/>
          <p:nvPr/>
        </p:nvCxnSpPr>
        <p:spPr>
          <a:xfrm flipV="1">
            <a:off x="1557033" y="2891039"/>
            <a:ext cx="2848127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>
            <a:off x="5139582" y="2884770"/>
            <a:ext cx="570217" cy="122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/>
          <p:cNvCxnSpPr/>
          <p:nvPr/>
        </p:nvCxnSpPr>
        <p:spPr>
          <a:xfrm>
            <a:off x="6820244" y="4333875"/>
            <a:ext cx="5804" cy="87412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7323399" y="5615453"/>
            <a:ext cx="38700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endCxn id="131" idx="1"/>
          </p:cNvCxnSpPr>
          <p:nvPr/>
        </p:nvCxnSpPr>
        <p:spPr>
          <a:xfrm>
            <a:off x="8815388" y="5615452"/>
            <a:ext cx="160929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>
            <a:off x="9862457" y="5615453"/>
            <a:ext cx="160929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/>
        </p:nvCxnSpPr>
        <p:spPr>
          <a:xfrm flipV="1">
            <a:off x="8116583" y="2897006"/>
            <a:ext cx="1424063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/>
              <p:cNvSpPr txBox="1"/>
              <p:nvPr/>
            </p:nvSpPr>
            <p:spPr>
              <a:xfrm>
                <a:off x="282797" y="3482127"/>
                <a:ext cx="11026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𝐼𝑛𝑝𝑢𝑡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𝑓𝑒𝑎𝑡𝑢𝑟𝑒𝑠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82" name="TextBox 1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97" y="3482127"/>
                <a:ext cx="1102660" cy="2462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/>
              <p:cNvSpPr txBox="1"/>
              <p:nvPr/>
            </p:nvSpPr>
            <p:spPr>
              <a:xfrm>
                <a:off x="11015952" y="3482127"/>
                <a:ext cx="11026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/>
                        </a:rPr>
                        <m:t>𝑂</m:t>
                      </m:r>
                      <m:r>
                        <m:rPr>
                          <m:sty m:val="p"/>
                        </m:rPr>
                        <a:rPr lang="en-US" altLang="zh-CN" sz="1000" i="1" dirty="0">
                          <a:latin typeface="Cambria Math"/>
                        </a:rPr>
                        <m:t>ut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𝑝𝑢𝑡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𝑓𝑒𝑎𝑡𝑢𝑟𝑒𝑠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83" name="TextBox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952" y="3482127"/>
                <a:ext cx="1102660" cy="2462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/>
              <p:cNvSpPr txBox="1"/>
              <p:nvPr/>
            </p:nvSpPr>
            <p:spPr>
              <a:xfrm>
                <a:off x="7568895" y="4849296"/>
                <a:ext cx="1095375" cy="380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0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000" i="1" dirty="0" smtClean="0">
                              <a:latin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1000" b="0" i="1" dirty="0" smtClean="0"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a:rPr lang="en-US" altLang="zh-CN" sz="1000" b="0" i="1" dirty="0" smtClean="0">
                          <a:latin typeface="Cambria Math"/>
                        </a:rPr>
                        <m:t>×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𝐻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×</m:t>
                      </m:r>
                      <m:r>
                        <a:rPr lang="en-US" altLang="zh-CN" sz="1000" b="0" i="1" dirty="0" smtClean="0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84" name="TextBox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895" y="4849296"/>
                <a:ext cx="1095375" cy="38048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/>
              <p:cNvSpPr txBox="1"/>
              <p:nvPr/>
            </p:nvSpPr>
            <p:spPr>
              <a:xfrm>
                <a:off x="10453692" y="4940382"/>
                <a:ext cx="8112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0" dirty="0"/>
                  <a:t>C</a:t>
                </a:r>
                <a14:m>
                  <m:oMath xmlns:m="http://schemas.openxmlformats.org/officeDocument/2006/math">
                    <m:r>
                      <a:rPr lang="en-US" altLang="zh-CN" sz="1000" b="0" i="1" dirty="0" smtClean="0">
                        <a:latin typeface="Cambria Math"/>
                      </a:rPr>
                      <m:t>×</m:t>
                    </m:r>
                    <m:r>
                      <a:rPr lang="en-US" altLang="zh-CN" sz="1000" b="0" i="1" dirty="0" smtClean="0">
                        <a:latin typeface="Cambria Math"/>
                      </a:rPr>
                      <m:t>𝐻</m:t>
                    </m:r>
                    <m:r>
                      <a:rPr lang="en-US" altLang="zh-CN" sz="1000" b="0" i="1" dirty="0" smtClean="0">
                        <a:latin typeface="Cambria Math"/>
                      </a:rPr>
                      <m:t>×</m:t>
                    </m:r>
                    <m:r>
                      <a:rPr lang="en-US" altLang="zh-CN" sz="1000" b="0" i="1" dirty="0" smtClean="0">
                        <a:latin typeface="Cambria Math"/>
                      </a:rPr>
                      <m:t>𝑊</m:t>
                    </m:r>
                  </m:oMath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85" name="TextBox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692" y="4940382"/>
                <a:ext cx="811207" cy="246221"/>
              </a:xfrm>
              <a:prstGeom prst="rect">
                <a:avLst/>
              </a:prstGeom>
              <a:blipFill rotWithShape="1">
                <a:blip r:embed="rId7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TextBox 187"/>
          <p:cNvSpPr txBox="1"/>
          <p:nvPr/>
        </p:nvSpPr>
        <p:spPr>
          <a:xfrm>
            <a:off x="1870362" y="1909188"/>
            <a:ext cx="222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Channel Attention</a:t>
            </a:r>
            <a:endParaRPr lang="zh-CN" altLang="en-US" dirty="0"/>
          </a:p>
        </p:txBody>
      </p:sp>
      <p:sp>
        <p:nvSpPr>
          <p:cNvPr id="190" name="TextBox 189"/>
          <p:cNvSpPr txBox="1"/>
          <p:nvPr/>
        </p:nvSpPr>
        <p:spPr>
          <a:xfrm>
            <a:off x="8023758" y="4554527"/>
            <a:ext cx="222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Spatial Attention</a:t>
            </a:r>
            <a:endParaRPr lang="zh-CN" altLang="en-US" dirty="0"/>
          </a:p>
        </p:txBody>
      </p:sp>
      <p:sp>
        <p:nvSpPr>
          <p:cNvPr id="197" name="TextBox 196"/>
          <p:cNvSpPr txBox="1"/>
          <p:nvPr/>
        </p:nvSpPr>
        <p:spPr>
          <a:xfrm>
            <a:off x="3979162" y="1662967"/>
            <a:ext cx="7310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sigmoid</a:t>
            </a:r>
            <a:endParaRPr lang="zh-CN" altLang="en-US" sz="1000" dirty="0"/>
          </a:p>
        </p:txBody>
      </p:sp>
      <p:sp>
        <p:nvSpPr>
          <p:cNvPr id="198" name="TextBox 197"/>
          <p:cNvSpPr txBox="1"/>
          <p:nvPr/>
        </p:nvSpPr>
        <p:spPr>
          <a:xfrm>
            <a:off x="10606092" y="4616082"/>
            <a:ext cx="7310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sigmoid</a:t>
            </a:r>
            <a:endParaRPr lang="zh-CN" altLang="en-US" sz="1000" dirty="0"/>
          </a:p>
        </p:txBody>
      </p:sp>
      <p:sp>
        <p:nvSpPr>
          <p:cNvPr id="199" name="矩形 198"/>
          <p:cNvSpPr/>
          <p:nvPr/>
        </p:nvSpPr>
        <p:spPr>
          <a:xfrm>
            <a:off x="1821282" y="5744097"/>
            <a:ext cx="3061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GCSA (</a:t>
            </a:r>
            <a:r>
              <a:rPr lang="zh-CN" altLang="en-US" dirty="0"/>
              <a:t>全局通道空间注意力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84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圆角矩形 164"/>
          <p:cNvSpPr/>
          <p:nvPr/>
        </p:nvSpPr>
        <p:spPr>
          <a:xfrm>
            <a:off x="6292850" y="4274966"/>
            <a:ext cx="5154347" cy="1648249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圆角矩形 94"/>
          <p:cNvSpPr/>
          <p:nvPr/>
        </p:nvSpPr>
        <p:spPr>
          <a:xfrm>
            <a:off x="1348768" y="1065425"/>
            <a:ext cx="7017964" cy="314123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立方体 3"/>
          <p:cNvSpPr/>
          <p:nvPr/>
        </p:nvSpPr>
        <p:spPr>
          <a:xfrm>
            <a:off x="91440" y="2461260"/>
            <a:ext cx="1203960" cy="960120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19212" y="2207895"/>
            <a:ext cx="476250" cy="1466850"/>
            <a:chOff x="1295400" y="2461260"/>
            <a:chExt cx="476250" cy="843915"/>
          </a:xfrm>
        </p:grpSpPr>
        <p:cxnSp>
          <p:nvCxnSpPr>
            <p:cNvPr id="8" name="直接连接符 7"/>
            <p:cNvCxnSpPr>
              <a:stCxn id="4" idx="5"/>
            </p:cNvCxnSpPr>
            <p:nvPr/>
          </p:nvCxnSpPr>
          <p:spPr>
            <a:xfrm flipV="1">
              <a:off x="1295400" y="2819400"/>
              <a:ext cx="161925" cy="19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457325" y="2461260"/>
              <a:ext cx="0" cy="8439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1457325" y="2461260"/>
              <a:ext cx="3143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1457325" y="2823210"/>
              <a:ext cx="3143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1457325" y="3305175"/>
              <a:ext cx="3143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/>
          <p:cNvSpPr/>
          <p:nvPr/>
        </p:nvSpPr>
        <p:spPr>
          <a:xfrm>
            <a:off x="1795462" y="1961196"/>
            <a:ext cx="1000125" cy="42862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MaxPool</a:t>
            </a:r>
            <a:endParaRPr lang="zh-CN" altLang="en-US" sz="1000" dirty="0"/>
          </a:p>
        </p:txBody>
      </p:sp>
      <p:sp>
        <p:nvSpPr>
          <p:cNvPr id="17" name="矩形 16"/>
          <p:cNvSpPr/>
          <p:nvPr/>
        </p:nvSpPr>
        <p:spPr>
          <a:xfrm>
            <a:off x="1795460" y="2622705"/>
            <a:ext cx="1000125" cy="428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MedianPool</a:t>
            </a:r>
            <a:endParaRPr lang="zh-CN" altLang="en-US" sz="1000" dirty="0"/>
          </a:p>
        </p:txBody>
      </p:sp>
      <p:sp>
        <p:nvSpPr>
          <p:cNvPr id="18" name="矩形 17"/>
          <p:cNvSpPr/>
          <p:nvPr/>
        </p:nvSpPr>
        <p:spPr>
          <a:xfrm>
            <a:off x="1795461" y="3401376"/>
            <a:ext cx="1000125" cy="4286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AvgPool</a:t>
            </a:r>
            <a:endParaRPr lang="zh-CN" altLang="en-US" sz="1000" dirty="0"/>
          </a:p>
        </p:txBody>
      </p:sp>
      <p:sp>
        <p:nvSpPr>
          <p:cNvPr id="31" name="椭圆 30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4857750" y="2792175"/>
            <a:ext cx="304350" cy="19224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32" name="圆角矩形 31"/>
          <p:cNvSpPr/>
          <p:nvPr/>
        </p:nvSpPr>
        <p:spPr>
          <a:xfrm>
            <a:off x="3075830" y="2101849"/>
            <a:ext cx="1555750" cy="157289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177455" y="2508282"/>
            <a:ext cx="234950" cy="8397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34" name="矩形 33"/>
          <p:cNvSpPr/>
          <p:nvPr/>
        </p:nvSpPr>
        <p:spPr>
          <a:xfrm rot="16200000">
            <a:off x="2739509" y="2819338"/>
            <a:ext cx="12153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Conv2d 1×1</a:t>
            </a:r>
            <a:endParaRPr lang="zh-CN" altLang="en-US" sz="1000" dirty="0"/>
          </a:p>
        </p:txBody>
      </p:sp>
      <p:sp>
        <p:nvSpPr>
          <p:cNvPr id="38" name="矩形 37"/>
          <p:cNvSpPr/>
          <p:nvPr/>
        </p:nvSpPr>
        <p:spPr>
          <a:xfrm>
            <a:off x="3572003" y="2503332"/>
            <a:ext cx="234950" cy="8397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40" name="矩形 39"/>
          <p:cNvSpPr/>
          <p:nvPr/>
        </p:nvSpPr>
        <p:spPr>
          <a:xfrm>
            <a:off x="4348106" y="2493642"/>
            <a:ext cx="234950" cy="8397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3412405" y="2211658"/>
            <a:ext cx="896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Shared MLP</a:t>
            </a:r>
            <a:endParaRPr lang="zh-CN" altLang="en-US" sz="1000" dirty="0"/>
          </a:p>
        </p:txBody>
      </p:sp>
      <p:sp>
        <p:nvSpPr>
          <p:cNvPr id="44" name="矩形 43"/>
          <p:cNvSpPr/>
          <p:nvPr/>
        </p:nvSpPr>
        <p:spPr>
          <a:xfrm>
            <a:off x="3968775" y="2503332"/>
            <a:ext cx="234950" cy="8397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45" name="矩形 44"/>
          <p:cNvSpPr/>
          <p:nvPr/>
        </p:nvSpPr>
        <p:spPr>
          <a:xfrm rot="16200000">
            <a:off x="3444361" y="2819338"/>
            <a:ext cx="12153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Conv2d 1×1</a:t>
            </a:r>
            <a:endParaRPr lang="zh-CN" altLang="en-US" sz="1000" dirty="0"/>
          </a:p>
        </p:txBody>
      </p:sp>
      <p:sp>
        <p:nvSpPr>
          <p:cNvPr id="46" name="矩形 45"/>
          <p:cNvSpPr/>
          <p:nvPr/>
        </p:nvSpPr>
        <p:spPr>
          <a:xfrm rot="16200000">
            <a:off x="3076163" y="2805061"/>
            <a:ext cx="12153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ReLu</a:t>
            </a:r>
            <a:endParaRPr lang="zh-CN" altLang="en-US" sz="1000" dirty="0"/>
          </a:p>
        </p:txBody>
      </p:sp>
      <p:sp>
        <p:nvSpPr>
          <p:cNvPr id="47" name="矩形 46"/>
          <p:cNvSpPr/>
          <p:nvPr/>
        </p:nvSpPr>
        <p:spPr>
          <a:xfrm rot="16200000">
            <a:off x="3818294" y="2819338"/>
            <a:ext cx="12153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Sigmoid</a:t>
            </a:r>
            <a:endParaRPr lang="zh-CN" altLang="en-US" sz="1000" dirty="0"/>
          </a:p>
        </p:txBody>
      </p:sp>
      <p:cxnSp>
        <p:nvCxnSpPr>
          <p:cNvPr id="51" name="直接箭头连接符 50"/>
          <p:cNvCxnSpPr>
            <a:stCxn id="15" idx="3"/>
          </p:cNvCxnSpPr>
          <p:nvPr/>
        </p:nvCxnSpPr>
        <p:spPr>
          <a:xfrm flipV="1">
            <a:off x="2795587" y="2175508"/>
            <a:ext cx="280243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V="1">
            <a:off x="2791665" y="2841429"/>
            <a:ext cx="280243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2791664" y="3615688"/>
            <a:ext cx="280243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4549084" y="2175508"/>
            <a:ext cx="43566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4549084" y="3611736"/>
            <a:ext cx="43566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4978400" y="2175509"/>
            <a:ext cx="6350" cy="57469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V="1">
            <a:off x="4631580" y="2888296"/>
            <a:ext cx="226170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V="1">
            <a:off x="4978400" y="3051330"/>
            <a:ext cx="0" cy="5662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立方体 66"/>
          <p:cNvSpPr/>
          <p:nvPr/>
        </p:nvSpPr>
        <p:spPr>
          <a:xfrm>
            <a:off x="5302250" y="2682244"/>
            <a:ext cx="330200" cy="412105"/>
          </a:xfrm>
          <a:prstGeom prst="cube">
            <a:avLst>
              <a:gd name="adj" fmla="val 4181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立方体 67"/>
          <p:cNvSpPr/>
          <p:nvPr/>
        </p:nvSpPr>
        <p:spPr>
          <a:xfrm>
            <a:off x="6846886" y="2334768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立方体 68"/>
          <p:cNvSpPr/>
          <p:nvPr/>
        </p:nvSpPr>
        <p:spPr>
          <a:xfrm>
            <a:off x="5467350" y="2682243"/>
            <a:ext cx="330200" cy="412105"/>
          </a:xfrm>
          <a:prstGeom prst="cube">
            <a:avLst>
              <a:gd name="adj" fmla="val 4181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立方体 69"/>
          <p:cNvSpPr/>
          <p:nvPr/>
        </p:nvSpPr>
        <p:spPr>
          <a:xfrm>
            <a:off x="5632450" y="2682242"/>
            <a:ext cx="330200" cy="412105"/>
          </a:xfrm>
          <a:prstGeom prst="cube">
            <a:avLst>
              <a:gd name="adj" fmla="val 4181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立方体 70"/>
          <p:cNvSpPr/>
          <p:nvPr/>
        </p:nvSpPr>
        <p:spPr>
          <a:xfrm>
            <a:off x="5797550" y="2682241"/>
            <a:ext cx="330200" cy="412105"/>
          </a:xfrm>
          <a:prstGeom prst="cube">
            <a:avLst>
              <a:gd name="adj" fmla="val 41810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立方体 71"/>
          <p:cNvSpPr/>
          <p:nvPr/>
        </p:nvSpPr>
        <p:spPr>
          <a:xfrm>
            <a:off x="5962650" y="2682240"/>
            <a:ext cx="330200" cy="412105"/>
          </a:xfrm>
          <a:prstGeom prst="cube">
            <a:avLst>
              <a:gd name="adj" fmla="val 41810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72"/>
          <p:cNvCxnSpPr/>
          <p:nvPr/>
        </p:nvCxnSpPr>
        <p:spPr>
          <a:xfrm flipV="1">
            <a:off x="5162100" y="2888292"/>
            <a:ext cx="113085" cy="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6334522" y="2888286"/>
            <a:ext cx="113085" cy="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椭圆 76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6486525" y="2782688"/>
            <a:ext cx="223113" cy="19809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grpSp>
        <p:nvGrpSpPr>
          <p:cNvPr id="109" name="组合 108"/>
          <p:cNvGrpSpPr/>
          <p:nvPr/>
        </p:nvGrpSpPr>
        <p:grpSpPr>
          <a:xfrm>
            <a:off x="813435" y="1571625"/>
            <a:ext cx="5784647" cy="1211063"/>
            <a:chOff x="813435" y="1571625"/>
            <a:chExt cx="5784647" cy="1211063"/>
          </a:xfrm>
        </p:grpSpPr>
        <p:cxnSp>
          <p:nvCxnSpPr>
            <p:cNvPr id="79" name="直接连接符 78"/>
            <p:cNvCxnSpPr>
              <a:stCxn id="4" idx="0"/>
            </p:cNvCxnSpPr>
            <p:nvPr/>
          </p:nvCxnSpPr>
          <p:spPr>
            <a:xfrm flipV="1">
              <a:off x="813435" y="1571625"/>
              <a:ext cx="0" cy="8896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813435" y="1571625"/>
              <a:ext cx="5784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endCxn id="77" idx="0"/>
            </p:cNvCxnSpPr>
            <p:nvPr/>
          </p:nvCxnSpPr>
          <p:spPr>
            <a:xfrm>
              <a:off x="6598081" y="1571625"/>
              <a:ext cx="1" cy="12110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立方体 87"/>
          <p:cNvSpPr/>
          <p:nvPr/>
        </p:nvSpPr>
        <p:spPr>
          <a:xfrm>
            <a:off x="6955628" y="2334769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立方体 88"/>
          <p:cNvSpPr/>
          <p:nvPr/>
        </p:nvSpPr>
        <p:spPr>
          <a:xfrm>
            <a:off x="7068342" y="2334768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立方体 89"/>
          <p:cNvSpPr/>
          <p:nvPr/>
        </p:nvSpPr>
        <p:spPr>
          <a:xfrm>
            <a:off x="7180259" y="2334768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立方体 90"/>
          <p:cNvSpPr/>
          <p:nvPr/>
        </p:nvSpPr>
        <p:spPr>
          <a:xfrm>
            <a:off x="7306464" y="2330318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箭头连接符 91"/>
          <p:cNvCxnSpPr/>
          <p:nvPr/>
        </p:nvCxnSpPr>
        <p:spPr>
          <a:xfrm flipV="1">
            <a:off x="6733801" y="2888298"/>
            <a:ext cx="113085" cy="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141145" y="2389821"/>
            <a:ext cx="1483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Channel-wise Attention</a:t>
            </a:r>
            <a:endParaRPr lang="zh-CN" alt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6597772" y="2054045"/>
            <a:ext cx="1585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Refined Channel Features</a:t>
            </a:r>
            <a:endParaRPr lang="zh-CN" altLang="en-US" sz="1000" dirty="0"/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3438569" y="2858509"/>
            <a:ext cx="12216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3829094" y="2858509"/>
            <a:ext cx="12216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4225944" y="2858509"/>
            <a:ext cx="12216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560731" y="1131948"/>
            <a:ext cx="222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Channel Attention</a:t>
            </a:r>
            <a:endParaRPr lang="zh-CN" altLang="en-US" dirty="0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7319166" y="3393097"/>
            <a:ext cx="13490" cy="100001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立方体 112"/>
          <p:cNvSpPr/>
          <p:nvPr/>
        </p:nvSpPr>
        <p:spPr>
          <a:xfrm>
            <a:off x="6846886" y="4428293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立方体 113"/>
          <p:cNvSpPr/>
          <p:nvPr/>
        </p:nvSpPr>
        <p:spPr>
          <a:xfrm>
            <a:off x="7347741" y="4396024"/>
            <a:ext cx="392113" cy="967794"/>
          </a:xfrm>
          <a:prstGeom prst="cube">
            <a:avLst>
              <a:gd name="adj" fmla="val 68733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7056431" y="5138698"/>
            <a:ext cx="27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16" name="直接箭头连接符 115"/>
          <p:cNvCxnSpPr/>
          <p:nvPr/>
        </p:nvCxnSpPr>
        <p:spPr>
          <a:xfrm flipV="1">
            <a:off x="7752499" y="4879920"/>
            <a:ext cx="226170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立方体 116"/>
          <p:cNvSpPr/>
          <p:nvPr/>
        </p:nvSpPr>
        <p:spPr>
          <a:xfrm>
            <a:off x="7962064" y="4591803"/>
            <a:ext cx="643860" cy="640773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/>
          <p:cNvCxnSpPr/>
          <p:nvPr/>
        </p:nvCxnSpPr>
        <p:spPr>
          <a:xfrm flipV="1">
            <a:off x="8605924" y="4875173"/>
            <a:ext cx="226170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流程图: 过程 131"/>
          <p:cNvSpPr/>
          <p:nvPr/>
        </p:nvSpPr>
        <p:spPr>
          <a:xfrm>
            <a:off x="8832094" y="4611648"/>
            <a:ext cx="786886" cy="527050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133" name="矩形 132"/>
          <p:cNvSpPr/>
          <p:nvPr/>
        </p:nvSpPr>
        <p:spPr>
          <a:xfrm>
            <a:off x="7798040" y="4807622"/>
            <a:ext cx="8089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Conv2d</a:t>
            </a:r>
          </a:p>
          <a:p>
            <a:pPr algn="ctr"/>
            <a:r>
              <a:rPr lang="en-US" altLang="zh-CN" sz="1000" dirty="0"/>
              <a:t> 5×5</a:t>
            </a:r>
            <a:endParaRPr lang="zh-CN" altLang="en-US" sz="1000" dirty="0"/>
          </a:p>
        </p:txBody>
      </p:sp>
      <p:cxnSp>
        <p:nvCxnSpPr>
          <p:cNvPr id="135" name="直接连接符 134"/>
          <p:cNvCxnSpPr>
            <a:stCxn id="117" idx="3"/>
          </p:cNvCxnSpPr>
          <p:nvPr/>
        </p:nvCxnSpPr>
        <p:spPr>
          <a:xfrm flipH="1">
            <a:off x="8202509" y="5232576"/>
            <a:ext cx="1388" cy="275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8203897" y="5508030"/>
            <a:ext cx="179475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 flipV="1">
            <a:off x="9998650" y="4982400"/>
            <a:ext cx="0" cy="52563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 flipV="1">
            <a:off x="9620305" y="4871922"/>
            <a:ext cx="226170" cy="325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椭圆 140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9846475" y="4775800"/>
            <a:ext cx="304350" cy="19224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47" name="立方体 146"/>
          <p:cNvSpPr/>
          <p:nvPr/>
        </p:nvSpPr>
        <p:spPr>
          <a:xfrm>
            <a:off x="9733390" y="3674745"/>
            <a:ext cx="474105" cy="38348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8" name="直接箭头连接符 147"/>
          <p:cNvCxnSpPr/>
          <p:nvPr/>
        </p:nvCxnSpPr>
        <p:spPr>
          <a:xfrm flipH="1" flipV="1">
            <a:off x="9984546" y="4107656"/>
            <a:ext cx="14104" cy="62463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 flipH="1" flipV="1">
            <a:off x="9970442" y="2984418"/>
            <a:ext cx="21156" cy="62731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>
            <a:off x="7739854" y="2822680"/>
            <a:ext cx="1993536" cy="1102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椭圆 153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9839778" y="2736996"/>
            <a:ext cx="223113" cy="19809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155" name="立方体 154"/>
          <p:cNvSpPr/>
          <p:nvPr/>
        </p:nvSpPr>
        <p:spPr>
          <a:xfrm>
            <a:off x="10424160" y="2401674"/>
            <a:ext cx="1203960" cy="960120"/>
          </a:xfrm>
          <a:prstGeom prst="cube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箭头连接符 155"/>
          <p:cNvCxnSpPr/>
          <p:nvPr/>
        </p:nvCxnSpPr>
        <p:spPr>
          <a:xfrm flipV="1">
            <a:off x="10094410" y="2834023"/>
            <a:ext cx="226170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9716670" y="3769992"/>
            <a:ext cx="4341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1×1</a:t>
            </a:r>
            <a:endParaRPr lang="zh-CN" altLang="en-US" sz="1000" dirty="0"/>
          </a:p>
        </p:txBody>
      </p:sp>
      <p:sp>
        <p:nvSpPr>
          <p:cNvPr id="162" name="矩形 161"/>
          <p:cNvSpPr/>
          <p:nvPr/>
        </p:nvSpPr>
        <p:spPr>
          <a:xfrm>
            <a:off x="8821068" y="4671866"/>
            <a:ext cx="8089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/>
              <a:t>Multi</a:t>
            </a:r>
          </a:p>
          <a:p>
            <a:pPr algn="ctr"/>
            <a:r>
              <a:rPr lang="en-US" altLang="zh-CN" sz="1000" dirty="0"/>
              <a:t>depthconv</a:t>
            </a:r>
            <a:endParaRPr lang="zh-CN" altLang="en-US" sz="1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91440" y="3494483"/>
            <a:ext cx="9172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Input Feature</a:t>
            </a:r>
            <a:endParaRPr lang="zh-CN" altLang="en-US" sz="1000" dirty="0"/>
          </a:p>
        </p:txBody>
      </p:sp>
      <p:sp>
        <p:nvSpPr>
          <p:cNvPr id="164" name="TextBox 163"/>
          <p:cNvSpPr txBox="1"/>
          <p:nvPr/>
        </p:nvSpPr>
        <p:spPr>
          <a:xfrm>
            <a:off x="10424160" y="3494483"/>
            <a:ext cx="10230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Output Feature</a:t>
            </a:r>
            <a:endParaRPr lang="zh-CN" altLang="en-US" sz="1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7962064" y="5553883"/>
            <a:ext cx="222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Spatial Attention</a:t>
            </a:r>
            <a:endParaRPr lang="zh-CN" altLang="en-US" dirty="0"/>
          </a:p>
        </p:txBody>
      </p:sp>
      <p:sp>
        <p:nvSpPr>
          <p:cNvPr id="167" name="矩形 166"/>
          <p:cNvSpPr/>
          <p:nvPr/>
        </p:nvSpPr>
        <p:spPr>
          <a:xfrm>
            <a:off x="1821283" y="5744097"/>
            <a:ext cx="352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MECS (</a:t>
            </a:r>
            <a:r>
              <a:rPr lang="zh-CN" altLang="en-US" dirty="0"/>
              <a:t>中值增强空间通道注意力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10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矩形 318">
            <a:extLst>
              <a:ext uri="{FF2B5EF4-FFF2-40B4-BE49-F238E27FC236}">
                <a16:creationId xmlns="" xmlns:a16="http://schemas.microsoft.com/office/drawing/2014/main" id="{7C348BBD-D115-4558-9050-46A193909117}"/>
              </a:ext>
            </a:extLst>
          </p:cNvPr>
          <p:cNvSpPr/>
          <p:nvPr/>
        </p:nvSpPr>
        <p:spPr>
          <a:xfrm>
            <a:off x="8742045" y="1977846"/>
            <a:ext cx="511070" cy="20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="" xmlns:a16="http://schemas.microsoft.com/office/drawing/2014/main" id="{0A5DA08F-D0CA-4120-949B-984A308FE167}"/>
              </a:ext>
            </a:extLst>
          </p:cNvPr>
          <p:cNvSpPr/>
          <p:nvPr/>
        </p:nvSpPr>
        <p:spPr>
          <a:xfrm>
            <a:off x="4180550" y="4697332"/>
            <a:ext cx="267867" cy="2785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latin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82307" y="2134419"/>
            <a:ext cx="1250426" cy="92044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立方体 37"/>
          <p:cNvSpPr/>
          <p:nvPr/>
        </p:nvSpPr>
        <p:spPr>
          <a:xfrm>
            <a:off x="213415" y="2379401"/>
            <a:ext cx="484094" cy="473337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038224" y="2285999"/>
            <a:ext cx="683420" cy="1452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Conv3×3</a:t>
            </a:r>
            <a:endParaRPr lang="zh-CN" altLang="en-US" sz="1000" dirty="0"/>
          </a:p>
        </p:txBody>
      </p:sp>
      <p:sp>
        <p:nvSpPr>
          <p:cNvPr id="41" name="矩形 40"/>
          <p:cNvSpPr/>
          <p:nvPr/>
        </p:nvSpPr>
        <p:spPr>
          <a:xfrm>
            <a:off x="1038224" y="2518955"/>
            <a:ext cx="683420" cy="14525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Conv5×5</a:t>
            </a:r>
            <a:endParaRPr lang="zh-CN" altLang="en-US" sz="1000" dirty="0"/>
          </a:p>
        </p:txBody>
      </p:sp>
      <p:sp>
        <p:nvSpPr>
          <p:cNvPr id="42" name="矩形 41"/>
          <p:cNvSpPr/>
          <p:nvPr/>
        </p:nvSpPr>
        <p:spPr>
          <a:xfrm>
            <a:off x="1039414" y="2742163"/>
            <a:ext cx="683420" cy="14525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Conv7×7</a:t>
            </a:r>
            <a:endParaRPr lang="zh-CN" alt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994568" y="2852738"/>
            <a:ext cx="8604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Multi-Scale</a:t>
            </a:r>
            <a:endParaRPr lang="zh-CN" altLang="en-US" sz="1000" dirty="0"/>
          </a:p>
        </p:txBody>
      </p:sp>
      <p:cxnSp>
        <p:nvCxnSpPr>
          <p:cNvPr id="44" name="直接连接符 43"/>
          <p:cNvCxnSpPr>
            <a:endCxn id="56" idx="1"/>
          </p:cNvCxnSpPr>
          <p:nvPr/>
        </p:nvCxnSpPr>
        <p:spPr>
          <a:xfrm>
            <a:off x="698573" y="2594641"/>
            <a:ext cx="837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814387" y="2358627"/>
            <a:ext cx="1088232" cy="494111"/>
            <a:chOff x="814387" y="2358627"/>
            <a:chExt cx="1088232" cy="494111"/>
          </a:xfrm>
        </p:grpSpPr>
        <p:grpSp>
          <p:nvGrpSpPr>
            <p:cNvPr id="87" name="组合 86"/>
            <p:cNvGrpSpPr/>
            <p:nvPr/>
          </p:nvGrpSpPr>
          <p:grpSpPr>
            <a:xfrm>
              <a:off x="814387" y="2358627"/>
              <a:ext cx="152008" cy="494111"/>
              <a:chOff x="814387" y="2358627"/>
              <a:chExt cx="152008" cy="494111"/>
            </a:xfrm>
          </p:grpSpPr>
          <p:cxnSp>
            <p:nvCxnSpPr>
              <p:cNvPr id="39" name="直接箭头连接符 38"/>
              <p:cNvCxnSpPr/>
              <p:nvPr/>
            </p:nvCxnSpPr>
            <p:spPr>
              <a:xfrm>
                <a:off x="814387" y="2358627"/>
                <a:ext cx="1472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819150" y="2358629"/>
                <a:ext cx="0" cy="4941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/>
              <p:nvPr/>
            </p:nvCxnSpPr>
            <p:spPr>
              <a:xfrm>
                <a:off x="814387" y="2591583"/>
                <a:ext cx="1472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/>
              <p:nvPr/>
            </p:nvCxnSpPr>
            <p:spPr>
              <a:xfrm>
                <a:off x="819150" y="2852738"/>
                <a:ext cx="1472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/>
            <p:cNvGrpSpPr/>
            <p:nvPr/>
          </p:nvGrpSpPr>
          <p:grpSpPr>
            <a:xfrm>
              <a:off x="1721644" y="2358627"/>
              <a:ext cx="180975" cy="163903"/>
              <a:chOff x="1721644" y="3621877"/>
              <a:chExt cx="133350" cy="163903"/>
            </a:xfrm>
          </p:grpSpPr>
          <p:cxnSp>
            <p:nvCxnSpPr>
              <p:cNvPr id="49" name="直接连接符 48"/>
              <p:cNvCxnSpPr/>
              <p:nvPr/>
            </p:nvCxnSpPr>
            <p:spPr>
              <a:xfrm flipV="1">
                <a:off x="1721644" y="3621877"/>
                <a:ext cx="133350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>
                <a:off x="1854994" y="3625452"/>
                <a:ext cx="0" cy="1603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箭头连接符 50"/>
            <p:cNvCxnSpPr>
              <a:stCxn id="41" idx="3"/>
            </p:cNvCxnSpPr>
            <p:nvPr/>
          </p:nvCxnSpPr>
          <p:spPr>
            <a:xfrm>
              <a:off x="1721644" y="2591584"/>
              <a:ext cx="1143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组合 51"/>
            <p:cNvGrpSpPr/>
            <p:nvPr/>
          </p:nvGrpSpPr>
          <p:grpSpPr>
            <a:xfrm>
              <a:off x="1722833" y="2664212"/>
              <a:ext cx="179785" cy="148983"/>
              <a:chOff x="1722834" y="3931037"/>
              <a:chExt cx="132160" cy="148983"/>
            </a:xfrm>
          </p:grpSpPr>
          <p:cxnSp>
            <p:nvCxnSpPr>
              <p:cNvPr id="53" name="直接连接符 52"/>
              <p:cNvCxnSpPr/>
              <p:nvPr/>
            </p:nvCxnSpPr>
            <p:spPr>
              <a:xfrm flipV="1">
                <a:off x="1722834" y="4080018"/>
                <a:ext cx="132160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/>
              <p:nvPr/>
            </p:nvCxnSpPr>
            <p:spPr>
              <a:xfrm flipV="1">
                <a:off x="1854994" y="3931037"/>
                <a:ext cx="0" cy="1489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5" name="椭圆 54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1835943" y="2539117"/>
            <a:ext cx="142875" cy="111048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+</a:t>
            </a:r>
            <a:endParaRPr lang="zh-CN" altLang="en-US" sz="1000" dirty="0"/>
          </a:p>
        </p:txBody>
      </p:sp>
      <p:sp>
        <p:nvSpPr>
          <p:cNvPr id="89" name="圆角矩形 88"/>
          <p:cNvSpPr/>
          <p:nvPr/>
        </p:nvSpPr>
        <p:spPr>
          <a:xfrm>
            <a:off x="782307" y="4360236"/>
            <a:ext cx="1250426" cy="92044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立方体 89"/>
          <p:cNvSpPr/>
          <p:nvPr/>
        </p:nvSpPr>
        <p:spPr>
          <a:xfrm>
            <a:off x="213415" y="4605218"/>
            <a:ext cx="484094" cy="473337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1038224" y="4511816"/>
            <a:ext cx="683420" cy="14525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Conv3×3</a:t>
            </a:r>
            <a:endParaRPr lang="zh-CN" altLang="en-US" sz="1000" dirty="0"/>
          </a:p>
        </p:txBody>
      </p:sp>
      <p:sp>
        <p:nvSpPr>
          <p:cNvPr id="92" name="矩形 91"/>
          <p:cNvSpPr/>
          <p:nvPr/>
        </p:nvSpPr>
        <p:spPr>
          <a:xfrm>
            <a:off x="1038224" y="4744772"/>
            <a:ext cx="683420" cy="14525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Conv5×5</a:t>
            </a:r>
            <a:endParaRPr lang="zh-CN" altLang="en-US" sz="1000" dirty="0"/>
          </a:p>
        </p:txBody>
      </p:sp>
      <p:sp>
        <p:nvSpPr>
          <p:cNvPr id="93" name="矩形 92"/>
          <p:cNvSpPr/>
          <p:nvPr/>
        </p:nvSpPr>
        <p:spPr>
          <a:xfrm>
            <a:off x="1039414" y="4967980"/>
            <a:ext cx="683420" cy="14525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Conv7×7</a:t>
            </a:r>
            <a:endParaRPr lang="zh-CN" alt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994568" y="5078555"/>
            <a:ext cx="8604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Multi-Scale</a:t>
            </a:r>
            <a:endParaRPr lang="zh-CN" altLang="en-US" sz="1000" dirty="0"/>
          </a:p>
        </p:txBody>
      </p:sp>
      <p:cxnSp>
        <p:nvCxnSpPr>
          <p:cNvPr id="95" name="直接连接符 94"/>
          <p:cNvCxnSpPr>
            <a:endCxn id="89" idx="1"/>
          </p:cNvCxnSpPr>
          <p:nvPr/>
        </p:nvCxnSpPr>
        <p:spPr>
          <a:xfrm>
            <a:off x="698573" y="4820458"/>
            <a:ext cx="837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814387" y="4584444"/>
            <a:ext cx="1088232" cy="494111"/>
            <a:chOff x="814387" y="2358627"/>
            <a:chExt cx="1088232" cy="494111"/>
          </a:xfrm>
        </p:grpSpPr>
        <p:grpSp>
          <p:nvGrpSpPr>
            <p:cNvPr id="97" name="组合 96"/>
            <p:cNvGrpSpPr/>
            <p:nvPr/>
          </p:nvGrpSpPr>
          <p:grpSpPr>
            <a:xfrm>
              <a:off x="814387" y="2358627"/>
              <a:ext cx="152008" cy="494111"/>
              <a:chOff x="814387" y="2358627"/>
              <a:chExt cx="152008" cy="494111"/>
            </a:xfrm>
          </p:grpSpPr>
          <p:cxnSp>
            <p:nvCxnSpPr>
              <p:cNvPr id="105" name="直接箭头连接符 104"/>
              <p:cNvCxnSpPr/>
              <p:nvPr/>
            </p:nvCxnSpPr>
            <p:spPr>
              <a:xfrm>
                <a:off x="814387" y="2358627"/>
                <a:ext cx="1472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819150" y="2358629"/>
                <a:ext cx="0" cy="4941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/>
            </p:nvCxnSpPr>
            <p:spPr>
              <a:xfrm>
                <a:off x="814387" y="2591583"/>
                <a:ext cx="1472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/>
              <p:cNvCxnSpPr/>
              <p:nvPr/>
            </p:nvCxnSpPr>
            <p:spPr>
              <a:xfrm>
                <a:off x="819150" y="2852738"/>
                <a:ext cx="1472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组合 97"/>
            <p:cNvGrpSpPr/>
            <p:nvPr/>
          </p:nvGrpSpPr>
          <p:grpSpPr>
            <a:xfrm>
              <a:off x="1721644" y="2358627"/>
              <a:ext cx="180975" cy="163903"/>
              <a:chOff x="1721644" y="3621877"/>
              <a:chExt cx="133350" cy="163903"/>
            </a:xfrm>
          </p:grpSpPr>
          <p:cxnSp>
            <p:nvCxnSpPr>
              <p:cNvPr id="103" name="直接连接符 102"/>
              <p:cNvCxnSpPr/>
              <p:nvPr/>
            </p:nvCxnSpPr>
            <p:spPr>
              <a:xfrm flipV="1">
                <a:off x="1721644" y="3621877"/>
                <a:ext cx="133350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箭头连接符 103"/>
              <p:cNvCxnSpPr/>
              <p:nvPr/>
            </p:nvCxnSpPr>
            <p:spPr>
              <a:xfrm>
                <a:off x="1854994" y="3625452"/>
                <a:ext cx="0" cy="1603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组合 99"/>
            <p:cNvGrpSpPr/>
            <p:nvPr/>
          </p:nvGrpSpPr>
          <p:grpSpPr>
            <a:xfrm>
              <a:off x="1722833" y="2664212"/>
              <a:ext cx="179785" cy="148983"/>
              <a:chOff x="1722834" y="3931037"/>
              <a:chExt cx="132160" cy="148983"/>
            </a:xfrm>
          </p:grpSpPr>
          <p:cxnSp>
            <p:nvCxnSpPr>
              <p:cNvPr id="101" name="直接连接符 100"/>
              <p:cNvCxnSpPr/>
              <p:nvPr/>
            </p:nvCxnSpPr>
            <p:spPr>
              <a:xfrm flipV="1">
                <a:off x="1722834" y="4080018"/>
                <a:ext cx="132160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箭头连接符 101"/>
              <p:cNvCxnSpPr/>
              <p:nvPr/>
            </p:nvCxnSpPr>
            <p:spPr>
              <a:xfrm flipV="1">
                <a:off x="1854994" y="3931037"/>
                <a:ext cx="0" cy="1489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9" name="椭圆 108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1835943" y="4764934"/>
            <a:ext cx="142875" cy="111048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+</a:t>
            </a:r>
            <a:endParaRPr lang="zh-CN" altLang="en-US" sz="1000" dirty="0"/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2032733" y="2605683"/>
            <a:ext cx="16182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立方体 113"/>
          <p:cNvSpPr/>
          <p:nvPr/>
        </p:nvSpPr>
        <p:spPr>
          <a:xfrm>
            <a:off x="2366964" y="2155147"/>
            <a:ext cx="601664" cy="198603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2299654" y="2153899"/>
                <a:ext cx="6897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𝐴𝑣𝑔𝑝𝑜𝑜𝑙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654" y="2153899"/>
                <a:ext cx="689771" cy="246221"/>
              </a:xfrm>
              <a:prstGeom prst="rect">
                <a:avLst/>
              </a:prstGeom>
              <a:blipFill>
                <a:blip r:embed="rId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立方体 116"/>
          <p:cNvSpPr/>
          <p:nvPr/>
        </p:nvSpPr>
        <p:spPr>
          <a:xfrm>
            <a:off x="2912271" y="2155146"/>
            <a:ext cx="601664" cy="198603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2839183" y="2155128"/>
                <a:ext cx="71119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𝑀𝑎𝑥𝑝𝑜𝑜𝑙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183" y="2155128"/>
                <a:ext cx="711199" cy="246221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立方体 120"/>
          <p:cNvSpPr/>
          <p:nvPr/>
        </p:nvSpPr>
        <p:spPr>
          <a:xfrm>
            <a:off x="2733172" y="2650045"/>
            <a:ext cx="246961" cy="496609"/>
          </a:xfrm>
          <a:prstGeom prst="cube">
            <a:avLst>
              <a:gd name="adj" fmla="val 6073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立方体 121"/>
          <p:cNvSpPr/>
          <p:nvPr/>
        </p:nvSpPr>
        <p:spPr>
          <a:xfrm>
            <a:off x="2806406" y="2650045"/>
            <a:ext cx="246961" cy="496609"/>
          </a:xfrm>
          <a:prstGeom prst="cube">
            <a:avLst>
              <a:gd name="adj" fmla="val 607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2102815" y="2907417"/>
                <a:ext cx="6897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𝐴𝑣𝑔𝑝𝑜𝑜𝑙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815" y="2907417"/>
                <a:ext cx="689771" cy="246221"/>
              </a:xfrm>
              <a:prstGeom prst="rect">
                <a:avLst/>
              </a:prstGeom>
              <a:blipFill rotWithShape="1"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981031" y="2891810"/>
                <a:ext cx="6897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𝑀𝑎𝑥𝑝𝑜𝑜𝑙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031" y="2891810"/>
                <a:ext cx="689771" cy="2462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2194560" y="1811994"/>
                <a:ext cx="18896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𝑃𝑜𝑜𝑙𝑖𝑛𝑔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𝑖𝑛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𝑠𝑝𝑎𝑡𝑖𝑎𝑙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𝑑𝑖𝑚𝑒𝑛𝑠𝑖𝑜𝑛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1811994"/>
                <a:ext cx="1889620" cy="246221"/>
              </a:xfrm>
              <a:prstGeom prst="rect">
                <a:avLst/>
              </a:prstGeom>
              <a:blipFill>
                <a:blip r:embed="rId6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2194560" y="3222854"/>
                <a:ext cx="1936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𝑃𝑜𝑜𝑙𝑖𝑛𝑔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𝑖𝑛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𝑐h𝑎𝑛𝑛𝑒𝑙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𝑑𝑖𝑚𝑒𝑛𝑠𝑖𝑜𝑛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3222854"/>
                <a:ext cx="1936107" cy="246221"/>
              </a:xfrm>
              <a:prstGeom prst="rect">
                <a:avLst/>
              </a:prstGeom>
              <a:blipFill rotWithShape="1"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立方体 136"/>
          <p:cNvSpPr/>
          <p:nvPr/>
        </p:nvSpPr>
        <p:spPr>
          <a:xfrm>
            <a:off x="2426378" y="4452247"/>
            <a:ext cx="601664" cy="19860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2366964" y="4452245"/>
                <a:ext cx="6897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𝐴𝑣𝑔𝑝𝑜𝑜𝑙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964" y="4452245"/>
                <a:ext cx="689771" cy="24622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立方体 138"/>
          <p:cNvSpPr/>
          <p:nvPr/>
        </p:nvSpPr>
        <p:spPr>
          <a:xfrm>
            <a:off x="2971685" y="4452246"/>
            <a:ext cx="601664" cy="198603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2904707" y="4461234"/>
                <a:ext cx="71119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𝑀𝑎𝑥𝑝𝑜𝑜𝑙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707" y="4461234"/>
                <a:ext cx="711199" cy="246221"/>
              </a:xfrm>
              <a:prstGeom prst="rect">
                <a:avLst/>
              </a:prstGeom>
              <a:blipFill>
                <a:blip r:embed="rId9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立方体 140"/>
          <p:cNvSpPr/>
          <p:nvPr/>
        </p:nvSpPr>
        <p:spPr>
          <a:xfrm>
            <a:off x="2792586" y="4947145"/>
            <a:ext cx="246961" cy="496609"/>
          </a:xfrm>
          <a:prstGeom prst="cube">
            <a:avLst>
              <a:gd name="adj" fmla="val 60731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立方体 141"/>
          <p:cNvSpPr/>
          <p:nvPr/>
        </p:nvSpPr>
        <p:spPr>
          <a:xfrm>
            <a:off x="2865820" y="4947145"/>
            <a:ext cx="246961" cy="496609"/>
          </a:xfrm>
          <a:prstGeom prst="cube">
            <a:avLst>
              <a:gd name="adj" fmla="val 6073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/>
              <p:cNvSpPr txBox="1"/>
              <p:nvPr/>
            </p:nvSpPr>
            <p:spPr>
              <a:xfrm>
                <a:off x="2134833" y="5201665"/>
                <a:ext cx="6897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𝐴𝑣𝑔𝑝𝑜𝑜𝑙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3" name="TextBox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833" y="5201665"/>
                <a:ext cx="689771" cy="24622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3040445" y="5188910"/>
                <a:ext cx="6897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𝑀𝑎𝑥𝑝𝑜𝑜𝑙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445" y="5188910"/>
                <a:ext cx="689771" cy="2462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/>
              <p:cNvSpPr txBox="1"/>
              <p:nvPr/>
            </p:nvSpPr>
            <p:spPr>
              <a:xfrm>
                <a:off x="2253974" y="4109094"/>
                <a:ext cx="18896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𝑃𝑜𝑜𝑙𝑖𝑛𝑔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𝑖𝑛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𝑠𝑝𝑎𝑡𝑖𝑎𝑙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𝑑𝑖𝑚𝑒𝑛𝑠𝑖𝑜𝑛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5" name="Text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974" y="4109094"/>
                <a:ext cx="1889620" cy="246221"/>
              </a:xfrm>
              <a:prstGeom prst="rect">
                <a:avLst/>
              </a:prstGeom>
              <a:blipFill rotWithShape="1">
                <a:blip r:embed="rId10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2253974" y="5519954"/>
                <a:ext cx="1936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/>
                        </a:rPr>
                        <m:t>𝑃𝑜𝑜𝑙𝑖𝑛𝑔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𝑖𝑛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𝑐h𝑎𝑛𝑛𝑒𝑙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/>
                        </a:rPr>
                        <m:t>𝑑𝑖𝑚𝑒𝑛𝑠𝑖𝑜𝑛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974" y="5519954"/>
                <a:ext cx="1936107" cy="246221"/>
              </a:xfrm>
              <a:prstGeom prst="rect">
                <a:avLst/>
              </a:prstGeom>
              <a:blipFill rotWithShape="1">
                <a:blip r:embed="rId11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直接箭头连接符 146"/>
          <p:cNvCxnSpPr/>
          <p:nvPr/>
        </p:nvCxnSpPr>
        <p:spPr>
          <a:xfrm>
            <a:off x="2053919" y="4841886"/>
            <a:ext cx="16182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3513935" y="2254447"/>
            <a:ext cx="1205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>
          <a:xfrm flipV="1">
            <a:off x="3568702" y="4551547"/>
            <a:ext cx="115093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cxnSpLocks/>
          </p:cNvCxnSpPr>
          <p:nvPr/>
        </p:nvCxnSpPr>
        <p:spPr>
          <a:xfrm>
            <a:off x="4719638" y="2254447"/>
            <a:ext cx="0" cy="39559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>
            <a:cxnSpLocks/>
          </p:cNvCxnSpPr>
          <p:nvPr/>
        </p:nvCxnSpPr>
        <p:spPr>
          <a:xfrm flipV="1">
            <a:off x="4719638" y="2975848"/>
            <a:ext cx="0" cy="15757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椭圆 160">
            <a:extLst>
              <a:ext uri="{FF2B5EF4-FFF2-40B4-BE49-F238E27FC236}">
                <a16:creationId xmlns="" xmlns:a16="http://schemas.microsoft.com/office/drawing/2014/main" id="{E83ACB90-D46E-4B78-B66F-B421128EEBC5}"/>
              </a:ext>
            </a:extLst>
          </p:cNvPr>
          <p:cNvSpPr/>
          <p:nvPr/>
        </p:nvSpPr>
        <p:spPr>
          <a:xfrm>
            <a:off x="4588414" y="2662167"/>
            <a:ext cx="267867" cy="2785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latin typeface="+mn-ea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535131" y="2675666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Cat</a:t>
            </a:r>
          </a:p>
        </p:txBody>
      </p:sp>
      <p:cxnSp>
        <p:nvCxnSpPr>
          <p:cNvPr id="164" name="直接箭头连接符 163"/>
          <p:cNvCxnSpPr/>
          <p:nvPr/>
        </p:nvCxnSpPr>
        <p:spPr>
          <a:xfrm>
            <a:off x="4856281" y="2800259"/>
            <a:ext cx="158394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立方体 72">
            <a:extLst>
              <a:ext uri="{FF2B5EF4-FFF2-40B4-BE49-F238E27FC236}">
                <a16:creationId xmlns="" xmlns:a16="http://schemas.microsoft.com/office/drawing/2014/main" id="{A5C16DD4-70DC-42C1-991B-8993344C1CC2}"/>
              </a:ext>
            </a:extLst>
          </p:cNvPr>
          <p:cNvSpPr/>
          <p:nvPr/>
        </p:nvSpPr>
        <p:spPr>
          <a:xfrm>
            <a:off x="5018118" y="2691865"/>
            <a:ext cx="601664" cy="198603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5" name="立方体 74">
            <a:extLst>
              <a:ext uri="{FF2B5EF4-FFF2-40B4-BE49-F238E27FC236}">
                <a16:creationId xmlns="" xmlns:a16="http://schemas.microsoft.com/office/drawing/2014/main" id="{5D7535D8-0F24-4821-B488-F7AD06F028D0}"/>
              </a:ext>
            </a:extLst>
          </p:cNvPr>
          <p:cNvSpPr/>
          <p:nvPr/>
        </p:nvSpPr>
        <p:spPr>
          <a:xfrm>
            <a:off x="5563425" y="2691864"/>
            <a:ext cx="601664" cy="198603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立方体 76">
            <a:extLst>
              <a:ext uri="{FF2B5EF4-FFF2-40B4-BE49-F238E27FC236}">
                <a16:creationId xmlns="" xmlns:a16="http://schemas.microsoft.com/office/drawing/2014/main" id="{BF9FDCE8-506C-4E83-A8C4-0B02A252F376}"/>
              </a:ext>
            </a:extLst>
          </p:cNvPr>
          <p:cNvSpPr/>
          <p:nvPr/>
        </p:nvSpPr>
        <p:spPr>
          <a:xfrm>
            <a:off x="6104552" y="2688816"/>
            <a:ext cx="601664" cy="19860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9" name="立方体 78">
            <a:extLst>
              <a:ext uri="{FF2B5EF4-FFF2-40B4-BE49-F238E27FC236}">
                <a16:creationId xmlns="" xmlns:a16="http://schemas.microsoft.com/office/drawing/2014/main" id="{75F7766B-21FB-4AC7-91D5-C3EEE900F694}"/>
              </a:ext>
            </a:extLst>
          </p:cNvPr>
          <p:cNvSpPr/>
          <p:nvPr/>
        </p:nvSpPr>
        <p:spPr>
          <a:xfrm>
            <a:off x="6643052" y="2688817"/>
            <a:ext cx="601664" cy="198603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124">
                <a:extLst>
                  <a:ext uri="{FF2B5EF4-FFF2-40B4-BE49-F238E27FC236}">
                    <a16:creationId xmlns="" xmlns:a16="http://schemas.microsoft.com/office/drawing/2014/main" id="{2DF8CD95-52EB-432B-9C8F-916B094E2197}"/>
                  </a:ext>
                </a:extLst>
              </p:cNvPr>
              <p:cNvSpPr txBox="1"/>
              <p:nvPr/>
            </p:nvSpPr>
            <p:spPr>
              <a:xfrm>
                <a:off x="5283746" y="2367301"/>
                <a:ext cx="12509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𝐶h𝑎𝑛𝑛𝑒𝑙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𝐹𝑒𝑎𝑡𝑢𝑟𝑒𝑠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1" name="TextBox 124">
                <a:extLst>
                  <a:ext uri="{FF2B5EF4-FFF2-40B4-BE49-F238E27FC236}">
                    <a16:creationId xmlns:a16="http://schemas.microsoft.com/office/drawing/2014/main" id="{2DF8CD95-52EB-432B-9C8F-916B094E2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46" y="2367301"/>
                <a:ext cx="1250920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连接符 81">
            <a:extLst>
              <a:ext uri="{FF2B5EF4-FFF2-40B4-BE49-F238E27FC236}">
                <a16:creationId xmlns="" xmlns:a16="http://schemas.microsoft.com/office/drawing/2014/main" id="{0F2E6DC0-CEF1-40CA-B782-31C2E74C5F00}"/>
              </a:ext>
            </a:extLst>
          </p:cNvPr>
          <p:cNvCxnSpPr>
            <a:cxnSpLocks/>
          </p:cNvCxnSpPr>
          <p:nvPr/>
        </p:nvCxnSpPr>
        <p:spPr>
          <a:xfrm>
            <a:off x="3057506" y="2868365"/>
            <a:ext cx="12712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="" xmlns:a16="http://schemas.microsoft.com/office/drawing/2014/main" id="{ED984897-B66D-4356-B89D-6B074A44113D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4314484" y="2868362"/>
            <a:ext cx="14276" cy="182897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="" xmlns:a16="http://schemas.microsoft.com/office/drawing/2014/main" id="{5687867C-D250-4396-96FF-5F4B0AB87D7F}"/>
              </a:ext>
            </a:extLst>
          </p:cNvPr>
          <p:cNvCxnSpPr/>
          <p:nvPr/>
        </p:nvCxnSpPr>
        <p:spPr>
          <a:xfrm>
            <a:off x="3112781" y="5195449"/>
            <a:ext cx="1205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="" xmlns:a16="http://schemas.microsoft.com/office/drawing/2014/main" id="{C2C096AB-144D-4886-82CE-099D9AAAC21D}"/>
              </a:ext>
            </a:extLst>
          </p:cNvPr>
          <p:cNvCxnSpPr>
            <a:cxnSpLocks/>
          </p:cNvCxnSpPr>
          <p:nvPr/>
        </p:nvCxnSpPr>
        <p:spPr>
          <a:xfrm flipV="1">
            <a:off x="4318484" y="4983480"/>
            <a:ext cx="0" cy="21197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61">
            <a:extLst>
              <a:ext uri="{FF2B5EF4-FFF2-40B4-BE49-F238E27FC236}">
                <a16:creationId xmlns="" xmlns:a16="http://schemas.microsoft.com/office/drawing/2014/main" id="{E877881D-1215-4F30-954B-710760C3EFA9}"/>
              </a:ext>
            </a:extLst>
          </p:cNvPr>
          <p:cNvSpPr txBox="1"/>
          <p:nvPr/>
        </p:nvSpPr>
        <p:spPr>
          <a:xfrm>
            <a:off x="4128387" y="4703871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Cat</a:t>
            </a: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="" xmlns:a16="http://schemas.microsoft.com/office/drawing/2014/main" id="{D0E5F536-6807-43A8-808D-FE92A60012C3}"/>
              </a:ext>
            </a:extLst>
          </p:cNvPr>
          <p:cNvCxnSpPr>
            <a:cxnSpLocks/>
          </p:cNvCxnSpPr>
          <p:nvPr/>
        </p:nvCxnSpPr>
        <p:spPr>
          <a:xfrm>
            <a:off x="4448417" y="4827420"/>
            <a:ext cx="136574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立方体 117">
            <a:extLst>
              <a:ext uri="{FF2B5EF4-FFF2-40B4-BE49-F238E27FC236}">
                <a16:creationId xmlns="" xmlns:a16="http://schemas.microsoft.com/office/drawing/2014/main" id="{BA4DC32B-96CB-4E9A-B472-6DFD36BE7964}"/>
              </a:ext>
            </a:extLst>
          </p:cNvPr>
          <p:cNvSpPr/>
          <p:nvPr/>
        </p:nvSpPr>
        <p:spPr>
          <a:xfrm>
            <a:off x="5834186" y="4519181"/>
            <a:ext cx="244524" cy="507263"/>
          </a:xfrm>
          <a:prstGeom prst="cube">
            <a:avLst>
              <a:gd name="adj" fmla="val 6073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立方体 118">
            <a:extLst>
              <a:ext uri="{FF2B5EF4-FFF2-40B4-BE49-F238E27FC236}">
                <a16:creationId xmlns="" xmlns:a16="http://schemas.microsoft.com/office/drawing/2014/main" id="{E2C54F5E-1331-401E-91B6-DF633CB21B34}"/>
              </a:ext>
            </a:extLst>
          </p:cNvPr>
          <p:cNvSpPr/>
          <p:nvPr/>
        </p:nvSpPr>
        <p:spPr>
          <a:xfrm>
            <a:off x="5907420" y="4519180"/>
            <a:ext cx="244524" cy="507263"/>
          </a:xfrm>
          <a:prstGeom prst="cube">
            <a:avLst>
              <a:gd name="adj" fmla="val 607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立方体 126">
            <a:extLst>
              <a:ext uri="{FF2B5EF4-FFF2-40B4-BE49-F238E27FC236}">
                <a16:creationId xmlns="" xmlns:a16="http://schemas.microsoft.com/office/drawing/2014/main" id="{D898BFEF-780F-4D97-836A-AB5F42A0E712}"/>
              </a:ext>
            </a:extLst>
          </p:cNvPr>
          <p:cNvSpPr/>
          <p:nvPr/>
        </p:nvSpPr>
        <p:spPr>
          <a:xfrm>
            <a:off x="5994749" y="4519180"/>
            <a:ext cx="244524" cy="507263"/>
          </a:xfrm>
          <a:prstGeom prst="cube">
            <a:avLst>
              <a:gd name="adj" fmla="val 60731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立方体 127">
            <a:extLst>
              <a:ext uri="{FF2B5EF4-FFF2-40B4-BE49-F238E27FC236}">
                <a16:creationId xmlns="" xmlns:a16="http://schemas.microsoft.com/office/drawing/2014/main" id="{90869A1E-1A04-468A-8C14-F515D1204B44}"/>
              </a:ext>
            </a:extLst>
          </p:cNvPr>
          <p:cNvSpPr/>
          <p:nvPr/>
        </p:nvSpPr>
        <p:spPr>
          <a:xfrm>
            <a:off x="6081147" y="4519181"/>
            <a:ext cx="244524" cy="507263"/>
          </a:xfrm>
          <a:prstGeom prst="cube">
            <a:avLst>
              <a:gd name="adj" fmla="val 6073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="" xmlns:a16="http://schemas.microsoft.com/office/drawing/2014/main" id="{A31B232F-2AE1-4092-A1D7-B93431DB49A5}"/>
              </a:ext>
            </a:extLst>
          </p:cNvPr>
          <p:cNvCxnSpPr>
            <a:cxnSpLocks/>
          </p:cNvCxnSpPr>
          <p:nvPr/>
        </p:nvCxnSpPr>
        <p:spPr>
          <a:xfrm flipV="1">
            <a:off x="7410453" y="2382584"/>
            <a:ext cx="261354" cy="29197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="" xmlns:a16="http://schemas.microsoft.com/office/drawing/2014/main" id="{F1BDBA29-2653-4445-96A6-49B8AD54CE97}"/>
              </a:ext>
            </a:extLst>
          </p:cNvPr>
          <p:cNvCxnSpPr>
            <a:cxnSpLocks/>
          </p:cNvCxnSpPr>
          <p:nvPr/>
        </p:nvCxnSpPr>
        <p:spPr>
          <a:xfrm>
            <a:off x="7410453" y="2899111"/>
            <a:ext cx="261354" cy="2702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="" xmlns:a16="http://schemas.microsoft.com/office/drawing/2014/main" id="{6BCD7CC6-BDC0-4691-AEB1-A71DBC315779}"/>
              </a:ext>
            </a:extLst>
          </p:cNvPr>
          <p:cNvGrpSpPr/>
          <p:nvPr/>
        </p:nvGrpSpPr>
        <p:grpSpPr>
          <a:xfrm>
            <a:off x="7738481" y="1678519"/>
            <a:ext cx="133346" cy="855583"/>
            <a:chOff x="7772399" y="2242970"/>
            <a:chExt cx="133346" cy="855583"/>
          </a:xfrm>
        </p:grpSpPr>
        <p:grpSp>
          <p:nvGrpSpPr>
            <p:cNvPr id="16" name="组合 15">
              <a:extLst>
                <a:ext uri="{FF2B5EF4-FFF2-40B4-BE49-F238E27FC236}">
                  <a16:creationId xmlns="" xmlns:a16="http://schemas.microsoft.com/office/drawing/2014/main" id="{73975F47-FCCE-46EE-8BA5-C1E15CF36CBD}"/>
                </a:ext>
              </a:extLst>
            </p:cNvPr>
            <p:cNvGrpSpPr/>
            <p:nvPr/>
          </p:nvGrpSpPr>
          <p:grpSpPr>
            <a:xfrm>
              <a:off x="7772399" y="2419086"/>
              <a:ext cx="133346" cy="679467"/>
              <a:chOff x="7776209" y="2031348"/>
              <a:chExt cx="133346" cy="679467"/>
            </a:xfrm>
          </p:grpSpPr>
          <p:sp>
            <p:nvSpPr>
              <p:cNvPr id="15" name="立方体 14">
                <a:extLst>
                  <a:ext uri="{FF2B5EF4-FFF2-40B4-BE49-F238E27FC236}">
                    <a16:creationId xmlns="" xmlns:a16="http://schemas.microsoft.com/office/drawing/2014/main" id="{3E70D189-A064-4E02-8447-2AE19D85DF4E}"/>
                  </a:ext>
                </a:extLst>
              </p:cNvPr>
              <p:cNvSpPr/>
              <p:nvPr/>
            </p:nvSpPr>
            <p:spPr>
              <a:xfrm>
                <a:off x="7776209" y="2591583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立方体 130">
                <a:extLst>
                  <a:ext uri="{FF2B5EF4-FFF2-40B4-BE49-F238E27FC236}">
                    <a16:creationId xmlns="" xmlns:a16="http://schemas.microsoft.com/office/drawing/2014/main" id="{527B9DC2-61E2-47AF-9136-8D4F4007B897}"/>
                  </a:ext>
                </a:extLst>
              </p:cNvPr>
              <p:cNvSpPr/>
              <p:nvPr/>
            </p:nvSpPr>
            <p:spPr>
              <a:xfrm>
                <a:off x="7776209" y="2501600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立方体 131">
                <a:extLst>
                  <a:ext uri="{FF2B5EF4-FFF2-40B4-BE49-F238E27FC236}">
                    <a16:creationId xmlns="" xmlns:a16="http://schemas.microsoft.com/office/drawing/2014/main" id="{9C91A208-EF42-4AD6-93D7-25859299D9F4}"/>
                  </a:ext>
                </a:extLst>
              </p:cNvPr>
              <p:cNvSpPr/>
              <p:nvPr/>
            </p:nvSpPr>
            <p:spPr>
              <a:xfrm>
                <a:off x="7776209" y="2408548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>
                <a:extLst>
                  <a:ext uri="{FF2B5EF4-FFF2-40B4-BE49-F238E27FC236}">
                    <a16:creationId xmlns="" xmlns:a16="http://schemas.microsoft.com/office/drawing/2014/main" id="{DFDB1F03-DA90-401B-9D28-8F73396AB528}"/>
                  </a:ext>
                </a:extLst>
              </p:cNvPr>
              <p:cNvSpPr/>
              <p:nvPr/>
            </p:nvSpPr>
            <p:spPr>
              <a:xfrm>
                <a:off x="7776209" y="2317031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>
                <a:extLst>
                  <a:ext uri="{FF2B5EF4-FFF2-40B4-BE49-F238E27FC236}">
                    <a16:creationId xmlns="" xmlns:a16="http://schemas.microsoft.com/office/drawing/2014/main" id="{DE7E5380-EE78-4D44-925C-312A431F4556}"/>
                  </a:ext>
                </a:extLst>
              </p:cNvPr>
              <p:cNvSpPr/>
              <p:nvPr/>
            </p:nvSpPr>
            <p:spPr>
              <a:xfrm>
                <a:off x="7776209" y="2218641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>
                <a:extLst>
                  <a:ext uri="{FF2B5EF4-FFF2-40B4-BE49-F238E27FC236}">
                    <a16:creationId xmlns="" xmlns:a16="http://schemas.microsoft.com/office/drawing/2014/main" id="{428F27C1-1F56-4C97-AEF6-6BB174A8D840}"/>
                  </a:ext>
                </a:extLst>
              </p:cNvPr>
              <p:cNvSpPr/>
              <p:nvPr/>
            </p:nvSpPr>
            <p:spPr>
              <a:xfrm>
                <a:off x="7776209" y="2123688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立方体 135">
                <a:extLst>
                  <a:ext uri="{FF2B5EF4-FFF2-40B4-BE49-F238E27FC236}">
                    <a16:creationId xmlns="" xmlns:a16="http://schemas.microsoft.com/office/drawing/2014/main" id="{795D7058-3B33-4151-B214-F8FE00EE70C0}"/>
                  </a:ext>
                </a:extLst>
              </p:cNvPr>
              <p:cNvSpPr/>
              <p:nvPr/>
            </p:nvSpPr>
            <p:spPr>
              <a:xfrm>
                <a:off x="7776209" y="2031348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8" name="立方体 147">
              <a:extLst>
                <a:ext uri="{FF2B5EF4-FFF2-40B4-BE49-F238E27FC236}">
                  <a16:creationId xmlns="" xmlns:a16="http://schemas.microsoft.com/office/drawing/2014/main" id="{F279AC89-8330-4E77-BED0-AD35F33DE947}"/>
                </a:ext>
              </a:extLst>
            </p:cNvPr>
            <p:cNvSpPr/>
            <p:nvPr/>
          </p:nvSpPr>
          <p:spPr>
            <a:xfrm>
              <a:off x="7772399" y="2329103"/>
              <a:ext cx="133346" cy="119232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>
              <a:extLst>
                <a:ext uri="{FF2B5EF4-FFF2-40B4-BE49-F238E27FC236}">
                  <a16:creationId xmlns="" xmlns:a16="http://schemas.microsoft.com/office/drawing/2014/main" id="{6D297305-30DA-4A1F-8CC4-BB6AB2FC4EAF}"/>
                </a:ext>
              </a:extLst>
            </p:cNvPr>
            <p:cNvSpPr/>
            <p:nvPr/>
          </p:nvSpPr>
          <p:spPr>
            <a:xfrm>
              <a:off x="7772399" y="2242970"/>
              <a:ext cx="133346" cy="119232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="" xmlns:a16="http://schemas.microsoft.com/office/drawing/2014/main" id="{DFA7F2EB-4028-4F81-9019-C70E64F254A1}"/>
              </a:ext>
            </a:extLst>
          </p:cNvPr>
          <p:cNvGrpSpPr/>
          <p:nvPr/>
        </p:nvGrpSpPr>
        <p:grpSpPr>
          <a:xfrm>
            <a:off x="8275691" y="1684464"/>
            <a:ext cx="133346" cy="855583"/>
            <a:chOff x="7772399" y="2242970"/>
            <a:chExt cx="133346" cy="855583"/>
          </a:xfrm>
          <a:solidFill>
            <a:schemeClr val="accent6"/>
          </a:solidFill>
        </p:grpSpPr>
        <p:grpSp>
          <p:nvGrpSpPr>
            <p:cNvPr id="153" name="组合 152">
              <a:extLst>
                <a:ext uri="{FF2B5EF4-FFF2-40B4-BE49-F238E27FC236}">
                  <a16:creationId xmlns="" xmlns:a16="http://schemas.microsoft.com/office/drawing/2014/main" id="{35495A0C-9D66-4C32-80E7-857741543018}"/>
                </a:ext>
              </a:extLst>
            </p:cNvPr>
            <p:cNvGrpSpPr/>
            <p:nvPr/>
          </p:nvGrpSpPr>
          <p:grpSpPr>
            <a:xfrm>
              <a:off x="7772399" y="2419086"/>
              <a:ext cx="133346" cy="679467"/>
              <a:chOff x="7776209" y="2031348"/>
              <a:chExt cx="133346" cy="679467"/>
            </a:xfrm>
            <a:grpFill/>
          </p:grpSpPr>
          <p:sp>
            <p:nvSpPr>
              <p:cNvPr id="156" name="立方体 155">
                <a:extLst>
                  <a:ext uri="{FF2B5EF4-FFF2-40B4-BE49-F238E27FC236}">
                    <a16:creationId xmlns="" xmlns:a16="http://schemas.microsoft.com/office/drawing/2014/main" id="{7837DD87-3E07-4305-B95F-73F623442826}"/>
                  </a:ext>
                </a:extLst>
              </p:cNvPr>
              <p:cNvSpPr/>
              <p:nvPr/>
            </p:nvSpPr>
            <p:spPr>
              <a:xfrm>
                <a:off x="7776209" y="2591583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立方体 156">
                <a:extLst>
                  <a:ext uri="{FF2B5EF4-FFF2-40B4-BE49-F238E27FC236}">
                    <a16:creationId xmlns="" xmlns:a16="http://schemas.microsoft.com/office/drawing/2014/main" id="{3D042527-7916-43E6-9FB4-6152BEC49313}"/>
                  </a:ext>
                </a:extLst>
              </p:cNvPr>
              <p:cNvSpPr/>
              <p:nvPr/>
            </p:nvSpPr>
            <p:spPr>
              <a:xfrm>
                <a:off x="7776209" y="2501600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立方体 158">
                <a:extLst>
                  <a:ext uri="{FF2B5EF4-FFF2-40B4-BE49-F238E27FC236}">
                    <a16:creationId xmlns="" xmlns:a16="http://schemas.microsoft.com/office/drawing/2014/main" id="{D4CA0724-723A-4A35-BDCD-AD62F1FCD2DE}"/>
                  </a:ext>
                </a:extLst>
              </p:cNvPr>
              <p:cNvSpPr/>
              <p:nvPr/>
            </p:nvSpPr>
            <p:spPr>
              <a:xfrm>
                <a:off x="7776209" y="2408548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立方体 162">
                <a:extLst>
                  <a:ext uri="{FF2B5EF4-FFF2-40B4-BE49-F238E27FC236}">
                    <a16:creationId xmlns="" xmlns:a16="http://schemas.microsoft.com/office/drawing/2014/main" id="{9944EDEA-1BDC-4588-9F16-41B268972FA2}"/>
                  </a:ext>
                </a:extLst>
              </p:cNvPr>
              <p:cNvSpPr/>
              <p:nvPr/>
            </p:nvSpPr>
            <p:spPr>
              <a:xfrm>
                <a:off x="7776209" y="2317031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立方体 164">
                <a:extLst>
                  <a:ext uri="{FF2B5EF4-FFF2-40B4-BE49-F238E27FC236}">
                    <a16:creationId xmlns="" xmlns:a16="http://schemas.microsoft.com/office/drawing/2014/main" id="{87031A70-D7AC-4570-BEC7-63FD86F7EDAE}"/>
                  </a:ext>
                </a:extLst>
              </p:cNvPr>
              <p:cNvSpPr/>
              <p:nvPr/>
            </p:nvSpPr>
            <p:spPr>
              <a:xfrm>
                <a:off x="7776209" y="2218641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立方体 165">
                <a:extLst>
                  <a:ext uri="{FF2B5EF4-FFF2-40B4-BE49-F238E27FC236}">
                    <a16:creationId xmlns="" xmlns:a16="http://schemas.microsoft.com/office/drawing/2014/main" id="{32677D00-08B7-4C55-BF93-4B6AB8A3800D}"/>
                  </a:ext>
                </a:extLst>
              </p:cNvPr>
              <p:cNvSpPr/>
              <p:nvPr/>
            </p:nvSpPr>
            <p:spPr>
              <a:xfrm>
                <a:off x="7776209" y="2123688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立方体 166">
                <a:extLst>
                  <a:ext uri="{FF2B5EF4-FFF2-40B4-BE49-F238E27FC236}">
                    <a16:creationId xmlns="" xmlns:a16="http://schemas.microsoft.com/office/drawing/2014/main" id="{44BE4B8C-4465-491F-9D92-07B718092216}"/>
                  </a:ext>
                </a:extLst>
              </p:cNvPr>
              <p:cNvSpPr/>
              <p:nvPr/>
            </p:nvSpPr>
            <p:spPr>
              <a:xfrm>
                <a:off x="7776209" y="2031348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4" name="立方体 153">
              <a:extLst>
                <a:ext uri="{FF2B5EF4-FFF2-40B4-BE49-F238E27FC236}">
                  <a16:creationId xmlns="" xmlns:a16="http://schemas.microsoft.com/office/drawing/2014/main" id="{A688C6F0-E469-421D-BCC3-FB149EF7AA75}"/>
                </a:ext>
              </a:extLst>
            </p:cNvPr>
            <p:cNvSpPr/>
            <p:nvPr/>
          </p:nvSpPr>
          <p:spPr>
            <a:xfrm>
              <a:off x="7772399" y="2329103"/>
              <a:ext cx="133346" cy="11923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立方体 154">
              <a:extLst>
                <a:ext uri="{FF2B5EF4-FFF2-40B4-BE49-F238E27FC236}">
                  <a16:creationId xmlns="" xmlns:a16="http://schemas.microsoft.com/office/drawing/2014/main" id="{20352A6D-E4B0-4EEE-A99A-395CFE710C88}"/>
                </a:ext>
              </a:extLst>
            </p:cNvPr>
            <p:cNvSpPr/>
            <p:nvPr/>
          </p:nvSpPr>
          <p:spPr>
            <a:xfrm>
              <a:off x="7772399" y="2242970"/>
              <a:ext cx="133346" cy="11923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0" name="立方体 189">
            <a:extLst>
              <a:ext uri="{FF2B5EF4-FFF2-40B4-BE49-F238E27FC236}">
                <a16:creationId xmlns="" xmlns:a16="http://schemas.microsoft.com/office/drawing/2014/main" id="{5F1EFCB8-0972-49F2-B580-AEF67D504C00}"/>
              </a:ext>
            </a:extLst>
          </p:cNvPr>
          <p:cNvSpPr/>
          <p:nvPr/>
        </p:nvSpPr>
        <p:spPr>
          <a:xfrm>
            <a:off x="7244716" y="4016622"/>
            <a:ext cx="244524" cy="507263"/>
          </a:xfrm>
          <a:prstGeom prst="cube">
            <a:avLst>
              <a:gd name="adj" fmla="val 6073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立方体 32">
            <a:extLst>
              <a:ext uri="{FF2B5EF4-FFF2-40B4-BE49-F238E27FC236}">
                <a16:creationId xmlns="" xmlns:a16="http://schemas.microsoft.com/office/drawing/2014/main" id="{2EDF8009-B6C4-4977-868F-A00655FC9439}"/>
              </a:ext>
            </a:extLst>
          </p:cNvPr>
          <p:cNvSpPr/>
          <p:nvPr/>
        </p:nvSpPr>
        <p:spPr>
          <a:xfrm>
            <a:off x="7351262" y="4174063"/>
            <a:ext cx="99048" cy="110975"/>
          </a:xfrm>
          <a:prstGeom prst="cub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1" name="立方体 190">
            <a:extLst>
              <a:ext uri="{FF2B5EF4-FFF2-40B4-BE49-F238E27FC236}">
                <a16:creationId xmlns="" xmlns:a16="http://schemas.microsoft.com/office/drawing/2014/main" id="{945BE853-7AF1-4A2F-8208-B53C4F04D6FE}"/>
              </a:ext>
            </a:extLst>
          </p:cNvPr>
          <p:cNvSpPr/>
          <p:nvPr/>
        </p:nvSpPr>
        <p:spPr>
          <a:xfrm>
            <a:off x="7205786" y="5012700"/>
            <a:ext cx="244524" cy="507263"/>
          </a:xfrm>
          <a:prstGeom prst="cube">
            <a:avLst>
              <a:gd name="adj" fmla="val 60731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="" xmlns:a16="http://schemas.microsoft.com/office/drawing/2014/main" id="{30AA0EB6-863F-455D-9B49-6299AF3BA950}"/>
              </a:ext>
            </a:extLst>
          </p:cNvPr>
          <p:cNvCxnSpPr>
            <a:cxnSpLocks/>
          </p:cNvCxnSpPr>
          <p:nvPr/>
        </p:nvCxnSpPr>
        <p:spPr>
          <a:xfrm flipV="1">
            <a:off x="6247004" y="4203664"/>
            <a:ext cx="1115778" cy="5612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立方体 191">
            <a:extLst>
              <a:ext uri="{FF2B5EF4-FFF2-40B4-BE49-F238E27FC236}">
                <a16:creationId xmlns="" xmlns:a16="http://schemas.microsoft.com/office/drawing/2014/main" id="{5C6167F5-8FF4-4F90-8E9C-6E821B8D2CF7}"/>
              </a:ext>
            </a:extLst>
          </p:cNvPr>
          <p:cNvSpPr/>
          <p:nvPr/>
        </p:nvSpPr>
        <p:spPr>
          <a:xfrm>
            <a:off x="6187832" y="4708417"/>
            <a:ext cx="131981" cy="124563"/>
          </a:xfrm>
          <a:prstGeom prst="cube">
            <a:avLst>
              <a:gd name="adj" fmla="val 402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3" name="立方体 192">
            <a:extLst>
              <a:ext uri="{FF2B5EF4-FFF2-40B4-BE49-F238E27FC236}">
                <a16:creationId xmlns="" xmlns:a16="http://schemas.microsoft.com/office/drawing/2014/main" id="{ABF01064-90B6-4DAA-84E2-C21022AF3B14}"/>
              </a:ext>
            </a:extLst>
          </p:cNvPr>
          <p:cNvSpPr/>
          <p:nvPr/>
        </p:nvSpPr>
        <p:spPr>
          <a:xfrm>
            <a:off x="7328048" y="5213800"/>
            <a:ext cx="99048" cy="110975"/>
          </a:xfrm>
          <a:prstGeom prst="cub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94" name="直接连接符 193">
            <a:extLst>
              <a:ext uri="{FF2B5EF4-FFF2-40B4-BE49-F238E27FC236}">
                <a16:creationId xmlns="" xmlns:a16="http://schemas.microsoft.com/office/drawing/2014/main" id="{F0106A8C-56D2-4546-A34E-6681726E5978}"/>
              </a:ext>
            </a:extLst>
          </p:cNvPr>
          <p:cNvCxnSpPr>
            <a:cxnSpLocks/>
          </p:cNvCxnSpPr>
          <p:nvPr/>
        </p:nvCxnSpPr>
        <p:spPr>
          <a:xfrm flipV="1">
            <a:off x="6333402" y="4256231"/>
            <a:ext cx="1025102" cy="53009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="" xmlns:a16="http://schemas.microsoft.com/office/drawing/2014/main" id="{FF4407D8-B9E4-4449-A3AA-5A512CA69DDF}"/>
              </a:ext>
            </a:extLst>
          </p:cNvPr>
          <p:cNvCxnSpPr>
            <a:cxnSpLocks/>
          </p:cNvCxnSpPr>
          <p:nvPr/>
        </p:nvCxnSpPr>
        <p:spPr>
          <a:xfrm flipV="1">
            <a:off x="6275161" y="4208167"/>
            <a:ext cx="1115778" cy="5612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="" xmlns:a16="http://schemas.microsoft.com/office/drawing/2014/main" id="{7D0E539C-159C-4745-8FA0-C9C8882FC37D}"/>
              </a:ext>
            </a:extLst>
          </p:cNvPr>
          <p:cNvCxnSpPr>
            <a:cxnSpLocks/>
          </p:cNvCxnSpPr>
          <p:nvPr/>
        </p:nvCxnSpPr>
        <p:spPr>
          <a:xfrm flipV="1">
            <a:off x="6261083" y="4283291"/>
            <a:ext cx="1115778" cy="5612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="" xmlns:a16="http://schemas.microsoft.com/office/drawing/2014/main" id="{7AED7FAC-B7C5-4C2D-8DE5-A4F7841CD8A0}"/>
              </a:ext>
            </a:extLst>
          </p:cNvPr>
          <p:cNvCxnSpPr>
            <a:cxnSpLocks/>
          </p:cNvCxnSpPr>
          <p:nvPr/>
        </p:nvCxnSpPr>
        <p:spPr>
          <a:xfrm>
            <a:off x="6300174" y="4817400"/>
            <a:ext cx="1128702" cy="4842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="" xmlns:a16="http://schemas.microsoft.com/office/drawing/2014/main" id="{D49C90EC-F62A-4FAF-9C81-D1BFD803BC2F}"/>
              </a:ext>
            </a:extLst>
          </p:cNvPr>
          <p:cNvCxnSpPr>
            <a:cxnSpLocks/>
            <a:endCxn id="193" idx="1"/>
          </p:cNvCxnSpPr>
          <p:nvPr/>
        </p:nvCxnSpPr>
        <p:spPr>
          <a:xfrm>
            <a:off x="6267017" y="4766671"/>
            <a:ext cx="1098174" cy="4718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="" xmlns:a16="http://schemas.microsoft.com/office/drawing/2014/main" id="{FA615D60-C0AE-4BB7-9504-9D342B0EF89D}"/>
              </a:ext>
            </a:extLst>
          </p:cNvPr>
          <p:cNvCxnSpPr>
            <a:cxnSpLocks/>
          </p:cNvCxnSpPr>
          <p:nvPr/>
        </p:nvCxnSpPr>
        <p:spPr>
          <a:xfrm>
            <a:off x="6289591" y="4826688"/>
            <a:ext cx="1115052" cy="4905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="" xmlns:a16="http://schemas.microsoft.com/office/drawing/2014/main" id="{0052207F-00F7-4574-A950-DA162137A63B}"/>
              </a:ext>
            </a:extLst>
          </p:cNvPr>
          <p:cNvCxnSpPr>
            <a:cxnSpLocks/>
            <a:endCxn id="193" idx="0"/>
          </p:cNvCxnSpPr>
          <p:nvPr/>
        </p:nvCxnSpPr>
        <p:spPr>
          <a:xfrm>
            <a:off x="6317335" y="4726310"/>
            <a:ext cx="1072618" cy="48749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="" xmlns:a16="http://schemas.microsoft.com/office/drawing/2014/main" id="{38755D32-57B1-4574-8E5B-4EC8B112BC19}"/>
              </a:ext>
            </a:extLst>
          </p:cNvPr>
          <p:cNvCxnSpPr>
            <a:stCxn id="149" idx="5"/>
            <a:endCxn id="167" idx="2"/>
          </p:cNvCxnSpPr>
          <p:nvPr/>
        </p:nvCxnSpPr>
        <p:spPr>
          <a:xfrm>
            <a:off x="7871827" y="1723231"/>
            <a:ext cx="403864" cy="2118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="" xmlns:a16="http://schemas.microsoft.com/office/drawing/2014/main" id="{7446396D-526D-4A99-8D07-FC4A500E0232}"/>
              </a:ext>
            </a:extLst>
          </p:cNvPr>
          <p:cNvCxnSpPr>
            <a:cxnSpLocks/>
            <a:endCxn id="167" idx="2"/>
          </p:cNvCxnSpPr>
          <p:nvPr/>
        </p:nvCxnSpPr>
        <p:spPr>
          <a:xfrm>
            <a:off x="7871827" y="1840822"/>
            <a:ext cx="403864" cy="9427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="" xmlns:a16="http://schemas.microsoft.com/office/drawing/2014/main" id="{A95FE820-9222-4B2F-9B9E-8A02A97D1A60}"/>
              </a:ext>
            </a:extLst>
          </p:cNvPr>
          <p:cNvCxnSpPr>
            <a:cxnSpLocks/>
            <a:endCxn id="167" idx="2"/>
          </p:cNvCxnSpPr>
          <p:nvPr/>
        </p:nvCxnSpPr>
        <p:spPr>
          <a:xfrm>
            <a:off x="7871827" y="1922164"/>
            <a:ext cx="403864" cy="1293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="" xmlns:a16="http://schemas.microsoft.com/office/drawing/2014/main" id="{CECF62BA-DDFD-4F98-A0B2-D00ED3945670}"/>
              </a:ext>
            </a:extLst>
          </p:cNvPr>
          <p:cNvCxnSpPr>
            <a:cxnSpLocks/>
            <a:endCxn id="167" idx="2"/>
          </p:cNvCxnSpPr>
          <p:nvPr/>
        </p:nvCxnSpPr>
        <p:spPr>
          <a:xfrm flipV="1">
            <a:off x="7879924" y="1935100"/>
            <a:ext cx="395767" cy="8549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="" xmlns:a16="http://schemas.microsoft.com/office/drawing/2014/main" id="{35F8DC58-979C-40F5-9F23-EFA0900C9677}"/>
              </a:ext>
            </a:extLst>
          </p:cNvPr>
          <p:cNvCxnSpPr>
            <a:cxnSpLocks/>
            <a:endCxn id="167" idx="2"/>
          </p:cNvCxnSpPr>
          <p:nvPr/>
        </p:nvCxnSpPr>
        <p:spPr>
          <a:xfrm flipV="1">
            <a:off x="7871827" y="1935100"/>
            <a:ext cx="403864" cy="1711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="" xmlns:a16="http://schemas.microsoft.com/office/drawing/2014/main" id="{C97E156D-0E69-4258-8978-A55B99E5F86C}"/>
              </a:ext>
            </a:extLst>
          </p:cNvPr>
          <p:cNvCxnSpPr>
            <a:cxnSpLocks/>
            <a:endCxn id="159" idx="2"/>
          </p:cNvCxnSpPr>
          <p:nvPr/>
        </p:nvCxnSpPr>
        <p:spPr>
          <a:xfrm>
            <a:off x="7872675" y="2207410"/>
            <a:ext cx="403016" cy="1048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="" xmlns:a16="http://schemas.microsoft.com/office/drawing/2014/main" id="{28EB7C3D-6353-4FD3-84CD-CF42B2325372}"/>
              </a:ext>
            </a:extLst>
          </p:cNvPr>
          <p:cNvCxnSpPr>
            <a:cxnSpLocks/>
            <a:endCxn id="159" idx="2"/>
          </p:cNvCxnSpPr>
          <p:nvPr/>
        </p:nvCxnSpPr>
        <p:spPr>
          <a:xfrm>
            <a:off x="7879924" y="2125729"/>
            <a:ext cx="395767" cy="1865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="" xmlns:a16="http://schemas.microsoft.com/office/drawing/2014/main" id="{3A4C2734-6320-4DDA-9586-C1C38536C87C}"/>
              </a:ext>
            </a:extLst>
          </p:cNvPr>
          <p:cNvCxnSpPr>
            <a:cxnSpLocks/>
            <a:endCxn id="159" idx="2"/>
          </p:cNvCxnSpPr>
          <p:nvPr/>
        </p:nvCxnSpPr>
        <p:spPr>
          <a:xfrm>
            <a:off x="7879924" y="2299196"/>
            <a:ext cx="395767" cy="1310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="" xmlns:a16="http://schemas.microsoft.com/office/drawing/2014/main" id="{61BF9F68-32AC-4379-A03E-1BBB56D70627}"/>
              </a:ext>
            </a:extLst>
          </p:cNvPr>
          <p:cNvCxnSpPr>
            <a:cxnSpLocks/>
            <a:endCxn id="159" idx="2"/>
          </p:cNvCxnSpPr>
          <p:nvPr/>
        </p:nvCxnSpPr>
        <p:spPr>
          <a:xfrm flipV="1">
            <a:off x="7872251" y="2312300"/>
            <a:ext cx="403440" cy="8265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="" xmlns:a16="http://schemas.microsoft.com/office/drawing/2014/main" id="{55B3DB4B-2BBB-4925-98C3-3797862D508A}"/>
              </a:ext>
            </a:extLst>
          </p:cNvPr>
          <p:cNvCxnSpPr>
            <a:cxnSpLocks/>
            <a:endCxn id="159" idx="2"/>
          </p:cNvCxnSpPr>
          <p:nvPr/>
        </p:nvCxnSpPr>
        <p:spPr>
          <a:xfrm flipV="1">
            <a:off x="7872039" y="2312300"/>
            <a:ext cx="403652" cy="16436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" name="组合 255">
            <a:extLst>
              <a:ext uri="{FF2B5EF4-FFF2-40B4-BE49-F238E27FC236}">
                <a16:creationId xmlns="" xmlns:a16="http://schemas.microsoft.com/office/drawing/2014/main" id="{E0F200FF-8888-48C9-BD97-63D6215DB7F6}"/>
              </a:ext>
            </a:extLst>
          </p:cNvPr>
          <p:cNvGrpSpPr/>
          <p:nvPr/>
        </p:nvGrpSpPr>
        <p:grpSpPr>
          <a:xfrm>
            <a:off x="7738481" y="2756003"/>
            <a:ext cx="133346" cy="855583"/>
            <a:chOff x="7772399" y="2242970"/>
            <a:chExt cx="133346" cy="855583"/>
          </a:xfrm>
        </p:grpSpPr>
        <p:grpSp>
          <p:nvGrpSpPr>
            <p:cNvPr id="257" name="组合 256">
              <a:extLst>
                <a:ext uri="{FF2B5EF4-FFF2-40B4-BE49-F238E27FC236}">
                  <a16:creationId xmlns="" xmlns:a16="http://schemas.microsoft.com/office/drawing/2014/main" id="{C9EC6CCD-4078-46E0-91A8-64FB829A304C}"/>
                </a:ext>
              </a:extLst>
            </p:cNvPr>
            <p:cNvGrpSpPr/>
            <p:nvPr/>
          </p:nvGrpSpPr>
          <p:grpSpPr>
            <a:xfrm>
              <a:off x="7772399" y="2419086"/>
              <a:ext cx="133346" cy="679467"/>
              <a:chOff x="7776209" y="2031348"/>
              <a:chExt cx="133346" cy="679467"/>
            </a:xfrm>
          </p:grpSpPr>
          <p:sp>
            <p:nvSpPr>
              <p:cNvPr id="260" name="立方体 259">
                <a:extLst>
                  <a:ext uri="{FF2B5EF4-FFF2-40B4-BE49-F238E27FC236}">
                    <a16:creationId xmlns="" xmlns:a16="http://schemas.microsoft.com/office/drawing/2014/main" id="{9A292774-6C3C-416B-B005-4FB94A3473DE}"/>
                  </a:ext>
                </a:extLst>
              </p:cNvPr>
              <p:cNvSpPr/>
              <p:nvPr/>
            </p:nvSpPr>
            <p:spPr>
              <a:xfrm>
                <a:off x="7776209" y="2591583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立方体 260">
                <a:extLst>
                  <a:ext uri="{FF2B5EF4-FFF2-40B4-BE49-F238E27FC236}">
                    <a16:creationId xmlns="" xmlns:a16="http://schemas.microsoft.com/office/drawing/2014/main" id="{B6890D61-F03E-4BB4-A524-EAE8D01AEB30}"/>
                  </a:ext>
                </a:extLst>
              </p:cNvPr>
              <p:cNvSpPr/>
              <p:nvPr/>
            </p:nvSpPr>
            <p:spPr>
              <a:xfrm>
                <a:off x="7776209" y="2501600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立方体 261">
                <a:extLst>
                  <a:ext uri="{FF2B5EF4-FFF2-40B4-BE49-F238E27FC236}">
                    <a16:creationId xmlns="" xmlns:a16="http://schemas.microsoft.com/office/drawing/2014/main" id="{23F272B7-87B9-4FFD-97D6-B84305F634B0}"/>
                  </a:ext>
                </a:extLst>
              </p:cNvPr>
              <p:cNvSpPr/>
              <p:nvPr/>
            </p:nvSpPr>
            <p:spPr>
              <a:xfrm>
                <a:off x="7776209" y="2408548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立方体 262">
                <a:extLst>
                  <a:ext uri="{FF2B5EF4-FFF2-40B4-BE49-F238E27FC236}">
                    <a16:creationId xmlns="" xmlns:a16="http://schemas.microsoft.com/office/drawing/2014/main" id="{2ABCFB25-4B5C-4BD6-94E6-2F6ED56879C7}"/>
                  </a:ext>
                </a:extLst>
              </p:cNvPr>
              <p:cNvSpPr/>
              <p:nvPr/>
            </p:nvSpPr>
            <p:spPr>
              <a:xfrm>
                <a:off x="7776209" y="2317031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立方体 263">
                <a:extLst>
                  <a:ext uri="{FF2B5EF4-FFF2-40B4-BE49-F238E27FC236}">
                    <a16:creationId xmlns="" xmlns:a16="http://schemas.microsoft.com/office/drawing/2014/main" id="{DB19A373-C23E-40A2-992F-CB263BAD760F}"/>
                  </a:ext>
                </a:extLst>
              </p:cNvPr>
              <p:cNvSpPr/>
              <p:nvPr/>
            </p:nvSpPr>
            <p:spPr>
              <a:xfrm>
                <a:off x="7776209" y="2218641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立方体 264">
                <a:extLst>
                  <a:ext uri="{FF2B5EF4-FFF2-40B4-BE49-F238E27FC236}">
                    <a16:creationId xmlns="" xmlns:a16="http://schemas.microsoft.com/office/drawing/2014/main" id="{A9EA1DB9-8187-4DE4-AADF-0C22FB1C3E18}"/>
                  </a:ext>
                </a:extLst>
              </p:cNvPr>
              <p:cNvSpPr/>
              <p:nvPr/>
            </p:nvSpPr>
            <p:spPr>
              <a:xfrm>
                <a:off x="7776209" y="2123688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" name="立方体 265">
                <a:extLst>
                  <a:ext uri="{FF2B5EF4-FFF2-40B4-BE49-F238E27FC236}">
                    <a16:creationId xmlns="" xmlns:a16="http://schemas.microsoft.com/office/drawing/2014/main" id="{626346F3-D7F7-4A29-80E6-4C2028985A3E}"/>
                  </a:ext>
                </a:extLst>
              </p:cNvPr>
              <p:cNvSpPr/>
              <p:nvPr/>
            </p:nvSpPr>
            <p:spPr>
              <a:xfrm>
                <a:off x="7776209" y="2031348"/>
                <a:ext cx="133346" cy="119232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8" name="立方体 257">
              <a:extLst>
                <a:ext uri="{FF2B5EF4-FFF2-40B4-BE49-F238E27FC236}">
                  <a16:creationId xmlns="" xmlns:a16="http://schemas.microsoft.com/office/drawing/2014/main" id="{2A73D65E-C74C-4856-BFAB-6C09D15F5402}"/>
                </a:ext>
              </a:extLst>
            </p:cNvPr>
            <p:cNvSpPr/>
            <p:nvPr/>
          </p:nvSpPr>
          <p:spPr>
            <a:xfrm>
              <a:off x="7772399" y="2329103"/>
              <a:ext cx="133346" cy="119232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立方体 258">
              <a:extLst>
                <a:ext uri="{FF2B5EF4-FFF2-40B4-BE49-F238E27FC236}">
                  <a16:creationId xmlns="" xmlns:a16="http://schemas.microsoft.com/office/drawing/2014/main" id="{A8EF2019-9483-4B40-B56F-57171E6F7777}"/>
                </a:ext>
              </a:extLst>
            </p:cNvPr>
            <p:cNvSpPr/>
            <p:nvPr/>
          </p:nvSpPr>
          <p:spPr>
            <a:xfrm>
              <a:off x="7772399" y="2242970"/>
              <a:ext cx="133346" cy="119232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7" name="组合 266">
            <a:extLst>
              <a:ext uri="{FF2B5EF4-FFF2-40B4-BE49-F238E27FC236}">
                <a16:creationId xmlns="" xmlns:a16="http://schemas.microsoft.com/office/drawing/2014/main" id="{8C7A31BA-4438-4431-88CF-E817D6937B8F}"/>
              </a:ext>
            </a:extLst>
          </p:cNvPr>
          <p:cNvGrpSpPr/>
          <p:nvPr/>
        </p:nvGrpSpPr>
        <p:grpSpPr>
          <a:xfrm>
            <a:off x="8275691" y="2761948"/>
            <a:ext cx="133346" cy="855583"/>
            <a:chOff x="7772399" y="2242970"/>
            <a:chExt cx="133346" cy="855583"/>
          </a:xfrm>
          <a:solidFill>
            <a:schemeClr val="accent6"/>
          </a:solidFill>
        </p:grpSpPr>
        <p:grpSp>
          <p:nvGrpSpPr>
            <p:cNvPr id="268" name="组合 267">
              <a:extLst>
                <a:ext uri="{FF2B5EF4-FFF2-40B4-BE49-F238E27FC236}">
                  <a16:creationId xmlns="" xmlns:a16="http://schemas.microsoft.com/office/drawing/2014/main" id="{D80A0090-3C74-4302-A6D7-E4A2B72A8397}"/>
                </a:ext>
              </a:extLst>
            </p:cNvPr>
            <p:cNvGrpSpPr/>
            <p:nvPr/>
          </p:nvGrpSpPr>
          <p:grpSpPr>
            <a:xfrm>
              <a:off x="7772399" y="2419086"/>
              <a:ext cx="133346" cy="679467"/>
              <a:chOff x="7776209" y="2031348"/>
              <a:chExt cx="133346" cy="679467"/>
            </a:xfrm>
            <a:grpFill/>
          </p:grpSpPr>
          <p:sp>
            <p:nvSpPr>
              <p:cNvPr id="271" name="立方体 270">
                <a:extLst>
                  <a:ext uri="{FF2B5EF4-FFF2-40B4-BE49-F238E27FC236}">
                    <a16:creationId xmlns="" xmlns:a16="http://schemas.microsoft.com/office/drawing/2014/main" id="{0F1C5497-6BA6-4650-8BE6-3DBB4158E9E4}"/>
                  </a:ext>
                </a:extLst>
              </p:cNvPr>
              <p:cNvSpPr/>
              <p:nvPr/>
            </p:nvSpPr>
            <p:spPr>
              <a:xfrm>
                <a:off x="7776209" y="2591583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" name="立方体 271">
                <a:extLst>
                  <a:ext uri="{FF2B5EF4-FFF2-40B4-BE49-F238E27FC236}">
                    <a16:creationId xmlns="" xmlns:a16="http://schemas.microsoft.com/office/drawing/2014/main" id="{F987DF52-D53A-4420-8F0F-EC144731596C}"/>
                  </a:ext>
                </a:extLst>
              </p:cNvPr>
              <p:cNvSpPr/>
              <p:nvPr/>
            </p:nvSpPr>
            <p:spPr>
              <a:xfrm>
                <a:off x="7776209" y="2501600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立方体 272">
                <a:extLst>
                  <a:ext uri="{FF2B5EF4-FFF2-40B4-BE49-F238E27FC236}">
                    <a16:creationId xmlns="" xmlns:a16="http://schemas.microsoft.com/office/drawing/2014/main" id="{6D0A4575-F1E9-4C7A-824F-BE4ACB61DAB5}"/>
                  </a:ext>
                </a:extLst>
              </p:cNvPr>
              <p:cNvSpPr/>
              <p:nvPr/>
            </p:nvSpPr>
            <p:spPr>
              <a:xfrm>
                <a:off x="7776209" y="2408548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" name="立方体 273">
                <a:extLst>
                  <a:ext uri="{FF2B5EF4-FFF2-40B4-BE49-F238E27FC236}">
                    <a16:creationId xmlns="" xmlns:a16="http://schemas.microsoft.com/office/drawing/2014/main" id="{7C35E8A4-99C4-4C26-8937-7F7E26E7354A}"/>
                  </a:ext>
                </a:extLst>
              </p:cNvPr>
              <p:cNvSpPr/>
              <p:nvPr/>
            </p:nvSpPr>
            <p:spPr>
              <a:xfrm>
                <a:off x="7776209" y="2317031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立方体 274">
                <a:extLst>
                  <a:ext uri="{FF2B5EF4-FFF2-40B4-BE49-F238E27FC236}">
                    <a16:creationId xmlns="" xmlns:a16="http://schemas.microsoft.com/office/drawing/2014/main" id="{36A7BEE8-D2EB-41EC-A5CC-16CBE7DD119A}"/>
                  </a:ext>
                </a:extLst>
              </p:cNvPr>
              <p:cNvSpPr/>
              <p:nvPr/>
            </p:nvSpPr>
            <p:spPr>
              <a:xfrm>
                <a:off x="7776209" y="2218641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立方体 275">
                <a:extLst>
                  <a:ext uri="{FF2B5EF4-FFF2-40B4-BE49-F238E27FC236}">
                    <a16:creationId xmlns="" xmlns:a16="http://schemas.microsoft.com/office/drawing/2014/main" id="{E4F248E9-1DE0-4292-85A0-5926343AF1D7}"/>
                  </a:ext>
                </a:extLst>
              </p:cNvPr>
              <p:cNvSpPr/>
              <p:nvPr/>
            </p:nvSpPr>
            <p:spPr>
              <a:xfrm>
                <a:off x="7776209" y="2123688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立方体 276">
                <a:extLst>
                  <a:ext uri="{FF2B5EF4-FFF2-40B4-BE49-F238E27FC236}">
                    <a16:creationId xmlns="" xmlns:a16="http://schemas.microsoft.com/office/drawing/2014/main" id="{D9B0FD65-698A-4AF1-B31A-B3DFEA685E3C}"/>
                  </a:ext>
                </a:extLst>
              </p:cNvPr>
              <p:cNvSpPr/>
              <p:nvPr/>
            </p:nvSpPr>
            <p:spPr>
              <a:xfrm>
                <a:off x="7776209" y="2031348"/>
                <a:ext cx="133346" cy="11923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9" name="立方体 268">
              <a:extLst>
                <a:ext uri="{FF2B5EF4-FFF2-40B4-BE49-F238E27FC236}">
                  <a16:creationId xmlns="" xmlns:a16="http://schemas.microsoft.com/office/drawing/2014/main" id="{90C92FAC-417C-4746-98DB-C4A9920895A0}"/>
                </a:ext>
              </a:extLst>
            </p:cNvPr>
            <p:cNvSpPr/>
            <p:nvPr/>
          </p:nvSpPr>
          <p:spPr>
            <a:xfrm>
              <a:off x="7772399" y="2329103"/>
              <a:ext cx="133346" cy="11923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立方体 269">
              <a:extLst>
                <a:ext uri="{FF2B5EF4-FFF2-40B4-BE49-F238E27FC236}">
                  <a16:creationId xmlns="" xmlns:a16="http://schemas.microsoft.com/office/drawing/2014/main" id="{4D0A7A77-3900-4ADE-839E-911DEB69C15A}"/>
                </a:ext>
              </a:extLst>
            </p:cNvPr>
            <p:cNvSpPr/>
            <p:nvPr/>
          </p:nvSpPr>
          <p:spPr>
            <a:xfrm>
              <a:off x="7772399" y="2242970"/>
              <a:ext cx="133346" cy="11923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8" name="直接连接符 277">
            <a:extLst>
              <a:ext uri="{FF2B5EF4-FFF2-40B4-BE49-F238E27FC236}">
                <a16:creationId xmlns="" xmlns:a16="http://schemas.microsoft.com/office/drawing/2014/main" id="{51221F2E-1D01-4979-B9CF-77AC918F3952}"/>
              </a:ext>
            </a:extLst>
          </p:cNvPr>
          <p:cNvCxnSpPr>
            <a:stCxn id="259" idx="5"/>
            <a:endCxn id="277" idx="2"/>
          </p:cNvCxnSpPr>
          <p:nvPr/>
        </p:nvCxnSpPr>
        <p:spPr>
          <a:xfrm>
            <a:off x="7871827" y="2800715"/>
            <a:ext cx="403864" cy="2118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连接符 278">
            <a:extLst>
              <a:ext uri="{FF2B5EF4-FFF2-40B4-BE49-F238E27FC236}">
                <a16:creationId xmlns="" xmlns:a16="http://schemas.microsoft.com/office/drawing/2014/main" id="{0C192883-B140-4D5F-8BD7-9B2158C651EC}"/>
              </a:ext>
            </a:extLst>
          </p:cNvPr>
          <p:cNvCxnSpPr>
            <a:cxnSpLocks/>
            <a:endCxn id="277" idx="2"/>
          </p:cNvCxnSpPr>
          <p:nvPr/>
        </p:nvCxnSpPr>
        <p:spPr>
          <a:xfrm>
            <a:off x="7871827" y="2918306"/>
            <a:ext cx="403864" cy="9427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="" xmlns:a16="http://schemas.microsoft.com/office/drawing/2014/main" id="{42F2AB92-FE74-4696-90E9-B0C9FE341E4D}"/>
              </a:ext>
            </a:extLst>
          </p:cNvPr>
          <p:cNvCxnSpPr>
            <a:cxnSpLocks/>
            <a:endCxn id="277" idx="2"/>
          </p:cNvCxnSpPr>
          <p:nvPr/>
        </p:nvCxnSpPr>
        <p:spPr>
          <a:xfrm>
            <a:off x="7871827" y="2999648"/>
            <a:ext cx="403864" cy="1293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="" xmlns:a16="http://schemas.microsoft.com/office/drawing/2014/main" id="{1A0FE3F8-F5D6-405E-9E7E-E150CE3DFD0F}"/>
              </a:ext>
            </a:extLst>
          </p:cNvPr>
          <p:cNvCxnSpPr>
            <a:cxnSpLocks/>
            <a:endCxn id="277" idx="2"/>
          </p:cNvCxnSpPr>
          <p:nvPr/>
        </p:nvCxnSpPr>
        <p:spPr>
          <a:xfrm flipV="1">
            <a:off x="7879924" y="3012584"/>
            <a:ext cx="395767" cy="8549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接连接符 281">
            <a:extLst>
              <a:ext uri="{FF2B5EF4-FFF2-40B4-BE49-F238E27FC236}">
                <a16:creationId xmlns="" xmlns:a16="http://schemas.microsoft.com/office/drawing/2014/main" id="{8C1277AD-32D7-47C0-AF6B-AC7E2AC8A7F0}"/>
              </a:ext>
            </a:extLst>
          </p:cNvPr>
          <p:cNvCxnSpPr>
            <a:cxnSpLocks/>
            <a:endCxn id="277" idx="2"/>
          </p:cNvCxnSpPr>
          <p:nvPr/>
        </p:nvCxnSpPr>
        <p:spPr>
          <a:xfrm flipV="1">
            <a:off x="7871827" y="3012584"/>
            <a:ext cx="403864" cy="1711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连接符 282">
            <a:extLst>
              <a:ext uri="{FF2B5EF4-FFF2-40B4-BE49-F238E27FC236}">
                <a16:creationId xmlns="" xmlns:a16="http://schemas.microsoft.com/office/drawing/2014/main" id="{FAFEDBFE-C0DF-4FED-AA91-CF6BFA2126B8}"/>
              </a:ext>
            </a:extLst>
          </p:cNvPr>
          <p:cNvCxnSpPr>
            <a:cxnSpLocks/>
            <a:endCxn id="273" idx="2"/>
          </p:cNvCxnSpPr>
          <p:nvPr/>
        </p:nvCxnSpPr>
        <p:spPr>
          <a:xfrm>
            <a:off x="7872675" y="3284894"/>
            <a:ext cx="403016" cy="1048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="" xmlns:a16="http://schemas.microsoft.com/office/drawing/2014/main" id="{DBC1CECD-CE54-4119-9D38-BCC62D4FDEA5}"/>
              </a:ext>
            </a:extLst>
          </p:cNvPr>
          <p:cNvCxnSpPr>
            <a:cxnSpLocks/>
            <a:endCxn id="273" idx="2"/>
          </p:cNvCxnSpPr>
          <p:nvPr/>
        </p:nvCxnSpPr>
        <p:spPr>
          <a:xfrm>
            <a:off x="7879924" y="3203213"/>
            <a:ext cx="395767" cy="1865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="" xmlns:a16="http://schemas.microsoft.com/office/drawing/2014/main" id="{7490D839-E442-4D90-B78F-F473DF5A5FA2}"/>
              </a:ext>
            </a:extLst>
          </p:cNvPr>
          <p:cNvCxnSpPr>
            <a:cxnSpLocks/>
            <a:endCxn id="273" idx="2"/>
          </p:cNvCxnSpPr>
          <p:nvPr/>
        </p:nvCxnSpPr>
        <p:spPr>
          <a:xfrm>
            <a:off x="7879924" y="3376680"/>
            <a:ext cx="395767" cy="13104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="" xmlns:a16="http://schemas.microsoft.com/office/drawing/2014/main" id="{D9F36818-A8C9-4992-9ABD-6941F243AAA5}"/>
              </a:ext>
            </a:extLst>
          </p:cNvPr>
          <p:cNvCxnSpPr>
            <a:cxnSpLocks/>
            <a:endCxn id="273" idx="2"/>
          </p:cNvCxnSpPr>
          <p:nvPr/>
        </p:nvCxnSpPr>
        <p:spPr>
          <a:xfrm flipV="1">
            <a:off x="7872251" y="3389784"/>
            <a:ext cx="403440" cy="8265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="" xmlns:a16="http://schemas.microsoft.com/office/drawing/2014/main" id="{CF61D6AC-8B25-4C19-B6B9-77DACD000B72}"/>
              </a:ext>
            </a:extLst>
          </p:cNvPr>
          <p:cNvCxnSpPr>
            <a:cxnSpLocks/>
            <a:endCxn id="273" idx="2"/>
          </p:cNvCxnSpPr>
          <p:nvPr/>
        </p:nvCxnSpPr>
        <p:spPr>
          <a:xfrm flipV="1">
            <a:off x="7872039" y="3389784"/>
            <a:ext cx="403652" cy="16436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="" xmlns:a16="http://schemas.microsoft.com/office/drawing/2014/main" id="{2A07ED5B-4D9B-4BBE-8611-CF10A917EEC1}"/>
              </a:ext>
            </a:extLst>
          </p:cNvPr>
          <p:cNvCxnSpPr>
            <a:cxnSpLocks/>
          </p:cNvCxnSpPr>
          <p:nvPr/>
        </p:nvCxnSpPr>
        <p:spPr>
          <a:xfrm>
            <a:off x="8435340" y="2101544"/>
            <a:ext cx="2540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箭头连接符 306">
            <a:extLst>
              <a:ext uri="{FF2B5EF4-FFF2-40B4-BE49-F238E27FC236}">
                <a16:creationId xmlns="" xmlns:a16="http://schemas.microsoft.com/office/drawing/2014/main" id="{768880BA-67BB-4675-8FB8-40DBB96158BC}"/>
              </a:ext>
            </a:extLst>
          </p:cNvPr>
          <p:cNvCxnSpPr>
            <a:cxnSpLocks/>
          </p:cNvCxnSpPr>
          <p:nvPr/>
        </p:nvCxnSpPr>
        <p:spPr>
          <a:xfrm>
            <a:off x="8409037" y="3186739"/>
            <a:ext cx="2540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TextBox 124">
                <a:extLst>
                  <a:ext uri="{FF2B5EF4-FFF2-40B4-BE49-F238E27FC236}">
                    <a16:creationId xmlns="" xmlns:a16="http://schemas.microsoft.com/office/drawing/2014/main" id="{C8F2FA74-99BB-46DC-B331-7B94B6BB9977}"/>
                  </a:ext>
                </a:extLst>
              </p:cNvPr>
              <p:cNvSpPr txBox="1"/>
              <p:nvPr/>
            </p:nvSpPr>
            <p:spPr>
              <a:xfrm>
                <a:off x="7582350" y="1435900"/>
                <a:ext cx="9524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𝐶𝑜𝑛𝑣𝑜𝑙𝑢𝑡𝑖𝑜𝑛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15" name="TextBox 124">
                <a:extLst>
                  <a:ext uri="{FF2B5EF4-FFF2-40B4-BE49-F238E27FC236}">
                    <a16:creationId xmlns:a16="http://schemas.microsoft.com/office/drawing/2014/main" id="{C8F2FA74-99BB-46DC-B331-7B94B6BB9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350" y="1435900"/>
                <a:ext cx="952440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124">
                <a:extLst>
                  <a:ext uri="{FF2B5EF4-FFF2-40B4-BE49-F238E27FC236}">
                    <a16:creationId xmlns="" xmlns:a16="http://schemas.microsoft.com/office/drawing/2014/main" id="{201F66EA-781F-41F5-BCFA-047A5D75EFED}"/>
                  </a:ext>
                </a:extLst>
              </p:cNvPr>
              <p:cNvSpPr txBox="1"/>
              <p:nvPr/>
            </p:nvSpPr>
            <p:spPr>
              <a:xfrm>
                <a:off x="7613096" y="3679425"/>
                <a:ext cx="9524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𝐶𝑜𝑛𝑣𝑜𝑙𝑢𝑡𝑖𝑜𝑛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16" name="TextBox 1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01F66EA-781F-41F5-BCFA-047A5D75E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096" y="3679425"/>
                <a:ext cx="952440" cy="215444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文本框 316">
            <a:extLst>
              <a:ext uri="{FF2B5EF4-FFF2-40B4-BE49-F238E27FC236}">
                <a16:creationId xmlns="" xmlns:a16="http://schemas.microsoft.com/office/drawing/2014/main" id="{DF469C7B-B8F4-4433-BCB9-4FC07BF28F4C}"/>
              </a:ext>
            </a:extLst>
          </p:cNvPr>
          <p:cNvSpPr txBox="1"/>
          <p:nvPr/>
        </p:nvSpPr>
        <p:spPr>
          <a:xfrm>
            <a:off x="8689392" y="1962515"/>
            <a:ext cx="636692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Softmax</a:t>
            </a:r>
            <a:endParaRPr lang="zh-CN" altLang="en-US" sz="1000" dirty="0"/>
          </a:p>
        </p:txBody>
      </p:sp>
      <p:sp>
        <p:nvSpPr>
          <p:cNvPr id="320" name="矩形 319">
            <a:extLst>
              <a:ext uri="{FF2B5EF4-FFF2-40B4-BE49-F238E27FC236}">
                <a16:creationId xmlns="" xmlns:a16="http://schemas.microsoft.com/office/drawing/2014/main" id="{E7F3E5B8-A1EE-4B12-94CF-BCB670DB907D}"/>
              </a:ext>
            </a:extLst>
          </p:cNvPr>
          <p:cNvSpPr/>
          <p:nvPr/>
        </p:nvSpPr>
        <p:spPr>
          <a:xfrm>
            <a:off x="8742045" y="3061569"/>
            <a:ext cx="511070" cy="20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文本框 320">
            <a:extLst>
              <a:ext uri="{FF2B5EF4-FFF2-40B4-BE49-F238E27FC236}">
                <a16:creationId xmlns="" xmlns:a16="http://schemas.microsoft.com/office/drawing/2014/main" id="{0A990EFE-743F-43BF-8C2E-1E5C7F83F2BB}"/>
              </a:ext>
            </a:extLst>
          </p:cNvPr>
          <p:cNvSpPr txBox="1"/>
          <p:nvPr/>
        </p:nvSpPr>
        <p:spPr>
          <a:xfrm>
            <a:off x="8689392" y="3046238"/>
            <a:ext cx="636692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Softmax</a:t>
            </a:r>
            <a:endParaRPr lang="zh-CN" altLang="en-US" sz="1000" dirty="0"/>
          </a:p>
        </p:txBody>
      </p:sp>
      <p:cxnSp>
        <p:nvCxnSpPr>
          <p:cNvPr id="322" name="直接箭头连接符 321">
            <a:extLst>
              <a:ext uri="{FF2B5EF4-FFF2-40B4-BE49-F238E27FC236}">
                <a16:creationId xmlns="" xmlns:a16="http://schemas.microsoft.com/office/drawing/2014/main" id="{73386EA5-4044-4E01-BF3B-0EB7D2B86547}"/>
              </a:ext>
            </a:extLst>
          </p:cNvPr>
          <p:cNvCxnSpPr>
            <a:cxnSpLocks/>
          </p:cNvCxnSpPr>
          <p:nvPr/>
        </p:nvCxnSpPr>
        <p:spPr>
          <a:xfrm>
            <a:off x="7489240" y="4250190"/>
            <a:ext cx="1200152" cy="2174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="" xmlns:a16="http://schemas.microsoft.com/office/drawing/2014/main" id="{06EDF0E4-B0F5-4E60-A883-DCCD05B27BC2}"/>
              </a:ext>
            </a:extLst>
          </p:cNvPr>
          <p:cNvCxnSpPr>
            <a:cxnSpLocks/>
          </p:cNvCxnSpPr>
          <p:nvPr/>
        </p:nvCxnSpPr>
        <p:spPr>
          <a:xfrm>
            <a:off x="7462033" y="5235284"/>
            <a:ext cx="1200152" cy="2174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矩形 326">
            <a:extLst>
              <a:ext uri="{FF2B5EF4-FFF2-40B4-BE49-F238E27FC236}">
                <a16:creationId xmlns="" xmlns:a16="http://schemas.microsoft.com/office/drawing/2014/main" id="{EB527A9E-E0A7-4A8F-AB78-157498269D09}"/>
              </a:ext>
            </a:extLst>
          </p:cNvPr>
          <p:cNvSpPr/>
          <p:nvPr/>
        </p:nvSpPr>
        <p:spPr>
          <a:xfrm>
            <a:off x="8737785" y="4164154"/>
            <a:ext cx="511070" cy="20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文本框 327">
            <a:extLst>
              <a:ext uri="{FF2B5EF4-FFF2-40B4-BE49-F238E27FC236}">
                <a16:creationId xmlns="" xmlns:a16="http://schemas.microsoft.com/office/drawing/2014/main" id="{73B2103B-FBC2-480E-97B0-EFC15A010239}"/>
              </a:ext>
            </a:extLst>
          </p:cNvPr>
          <p:cNvSpPr txBox="1"/>
          <p:nvPr/>
        </p:nvSpPr>
        <p:spPr>
          <a:xfrm>
            <a:off x="8685132" y="4148823"/>
            <a:ext cx="636692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Softmax</a:t>
            </a:r>
            <a:endParaRPr lang="zh-CN" altLang="en-US" sz="1000" dirty="0"/>
          </a:p>
        </p:txBody>
      </p:sp>
      <p:sp>
        <p:nvSpPr>
          <p:cNvPr id="329" name="矩形 328">
            <a:extLst>
              <a:ext uri="{FF2B5EF4-FFF2-40B4-BE49-F238E27FC236}">
                <a16:creationId xmlns="" xmlns:a16="http://schemas.microsoft.com/office/drawing/2014/main" id="{9D0BAE7E-0CC4-46AA-AA4C-05558B6CE98D}"/>
              </a:ext>
            </a:extLst>
          </p:cNvPr>
          <p:cNvSpPr/>
          <p:nvPr/>
        </p:nvSpPr>
        <p:spPr>
          <a:xfrm>
            <a:off x="8737785" y="5167806"/>
            <a:ext cx="511070" cy="20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文本框 329">
            <a:extLst>
              <a:ext uri="{FF2B5EF4-FFF2-40B4-BE49-F238E27FC236}">
                <a16:creationId xmlns="" xmlns:a16="http://schemas.microsoft.com/office/drawing/2014/main" id="{2AB56B52-109E-4716-99C0-70688ABF4A21}"/>
              </a:ext>
            </a:extLst>
          </p:cNvPr>
          <p:cNvSpPr txBox="1"/>
          <p:nvPr/>
        </p:nvSpPr>
        <p:spPr>
          <a:xfrm>
            <a:off x="8685132" y="5152475"/>
            <a:ext cx="636692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Softmax</a:t>
            </a:r>
            <a:endParaRPr lang="zh-CN" altLang="en-US" sz="1000" dirty="0"/>
          </a:p>
        </p:txBody>
      </p:sp>
      <p:cxnSp>
        <p:nvCxnSpPr>
          <p:cNvPr id="332" name="直接连接符 331">
            <a:extLst>
              <a:ext uri="{FF2B5EF4-FFF2-40B4-BE49-F238E27FC236}">
                <a16:creationId xmlns="" xmlns:a16="http://schemas.microsoft.com/office/drawing/2014/main" id="{88604F1F-2516-4949-AABC-B237AA539785}"/>
              </a:ext>
            </a:extLst>
          </p:cNvPr>
          <p:cNvCxnSpPr>
            <a:cxnSpLocks/>
            <a:stCxn id="317" idx="3"/>
          </p:cNvCxnSpPr>
          <p:nvPr/>
        </p:nvCxnSpPr>
        <p:spPr>
          <a:xfrm>
            <a:off x="9326084" y="2085626"/>
            <a:ext cx="4935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>
            <a:extLst>
              <a:ext uri="{FF2B5EF4-FFF2-40B4-BE49-F238E27FC236}">
                <a16:creationId xmlns="" xmlns:a16="http://schemas.microsoft.com/office/drawing/2014/main" id="{C635A40B-2D2C-4EB3-8509-F231D2135971}"/>
              </a:ext>
            </a:extLst>
          </p:cNvPr>
          <p:cNvCxnSpPr>
            <a:cxnSpLocks/>
          </p:cNvCxnSpPr>
          <p:nvPr/>
        </p:nvCxnSpPr>
        <p:spPr>
          <a:xfrm>
            <a:off x="9326084" y="3181472"/>
            <a:ext cx="3036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="" xmlns:a16="http://schemas.microsoft.com/office/drawing/2014/main" id="{0CDA0AFB-8D86-47F3-8864-19F4B982CD1F}"/>
              </a:ext>
            </a:extLst>
          </p:cNvPr>
          <p:cNvCxnSpPr>
            <a:cxnSpLocks/>
          </p:cNvCxnSpPr>
          <p:nvPr/>
        </p:nvCxnSpPr>
        <p:spPr>
          <a:xfrm>
            <a:off x="9321824" y="4269945"/>
            <a:ext cx="49781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="" xmlns:a16="http://schemas.microsoft.com/office/drawing/2014/main" id="{931F09F9-6178-4694-982D-5E5D309B0496}"/>
              </a:ext>
            </a:extLst>
          </p:cNvPr>
          <p:cNvCxnSpPr>
            <a:cxnSpLocks/>
          </p:cNvCxnSpPr>
          <p:nvPr/>
        </p:nvCxnSpPr>
        <p:spPr>
          <a:xfrm>
            <a:off x="9321824" y="5259773"/>
            <a:ext cx="3036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箭头连接符 340">
            <a:extLst>
              <a:ext uri="{FF2B5EF4-FFF2-40B4-BE49-F238E27FC236}">
                <a16:creationId xmlns="" xmlns:a16="http://schemas.microsoft.com/office/drawing/2014/main" id="{C387E97A-2ECA-467F-9E4D-BB70EF2CB764}"/>
              </a:ext>
            </a:extLst>
          </p:cNvPr>
          <p:cNvCxnSpPr/>
          <p:nvPr/>
        </p:nvCxnSpPr>
        <p:spPr>
          <a:xfrm>
            <a:off x="9822180" y="2085975"/>
            <a:ext cx="0" cy="13425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直接箭头连接符 347">
            <a:extLst>
              <a:ext uri="{FF2B5EF4-FFF2-40B4-BE49-F238E27FC236}">
                <a16:creationId xmlns="" xmlns:a16="http://schemas.microsoft.com/office/drawing/2014/main" id="{83B336BD-516D-4D3E-948C-906019695F7D}"/>
              </a:ext>
            </a:extLst>
          </p:cNvPr>
          <p:cNvCxnSpPr/>
          <p:nvPr/>
        </p:nvCxnSpPr>
        <p:spPr>
          <a:xfrm flipV="1">
            <a:off x="9819640" y="3611586"/>
            <a:ext cx="0" cy="6603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椭圆 348">
            <a:extLst>
              <a:ext uri="{FF2B5EF4-FFF2-40B4-BE49-F238E27FC236}">
                <a16:creationId xmlns="" xmlns:a16="http://schemas.microsoft.com/office/drawing/2014/main" id="{15EB27D1-B6D8-4B37-A5AF-FF28D721D101}"/>
              </a:ext>
            </a:extLst>
          </p:cNvPr>
          <p:cNvSpPr/>
          <p:nvPr/>
        </p:nvSpPr>
        <p:spPr>
          <a:xfrm>
            <a:off x="9685566" y="3428551"/>
            <a:ext cx="268147" cy="177364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="" xmlns:a16="http://schemas.microsoft.com/office/drawing/2014/main" id="{43AC7EEA-C8B3-4556-9681-BC367F4E4981}"/>
              </a:ext>
            </a:extLst>
          </p:cNvPr>
          <p:cNvCxnSpPr>
            <a:cxnSpLocks/>
          </p:cNvCxnSpPr>
          <p:nvPr/>
        </p:nvCxnSpPr>
        <p:spPr>
          <a:xfrm>
            <a:off x="9625515" y="3181472"/>
            <a:ext cx="0" cy="14237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箭头连接符 352">
            <a:extLst>
              <a:ext uri="{FF2B5EF4-FFF2-40B4-BE49-F238E27FC236}">
                <a16:creationId xmlns="" xmlns:a16="http://schemas.microsoft.com/office/drawing/2014/main" id="{A6F7EDFC-B2BC-4D50-BCB3-2F2CBD38F11C}"/>
              </a:ext>
            </a:extLst>
          </p:cNvPr>
          <p:cNvCxnSpPr/>
          <p:nvPr/>
        </p:nvCxnSpPr>
        <p:spPr>
          <a:xfrm flipV="1">
            <a:off x="9625515" y="4844561"/>
            <a:ext cx="0" cy="4124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椭圆 353">
            <a:extLst>
              <a:ext uri="{FF2B5EF4-FFF2-40B4-BE49-F238E27FC236}">
                <a16:creationId xmlns="" xmlns:a16="http://schemas.microsoft.com/office/drawing/2014/main" id="{01B463F7-DAD3-49A7-9FCE-68C8DAAA6701}"/>
              </a:ext>
            </a:extLst>
          </p:cNvPr>
          <p:cNvSpPr/>
          <p:nvPr/>
        </p:nvSpPr>
        <p:spPr>
          <a:xfrm>
            <a:off x="9491441" y="4636207"/>
            <a:ext cx="268147" cy="177364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cxnSp>
        <p:nvCxnSpPr>
          <p:cNvPr id="355" name="直接箭头连接符 354">
            <a:extLst>
              <a:ext uri="{FF2B5EF4-FFF2-40B4-BE49-F238E27FC236}">
                <a16:creationId xmlns="" xmlns:a16="http://schemas.microsoft.com/office/drawing/2014/main" id="{09C8695E-B141-4AB0-A3BD-608DE652D188}"/>
              </a:ext>
            </a:extLst>
          </p:cNvPr>
          <p:cNvCxnSpPr>
            <a:cxnSpLocks/>
          </p:cNvCxnSpPr>
          <p:nvPr/>
        </p:nvCxnSpPr>
        <p:spPr>
          <a:xfrm>
            <a:off x="9953713" y="3517233"/>
            <a:ext cx="2540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椭圆 355">
            <a:extLst>
              <a:ext uri="{FF2B5EF4-FFF2-40B4-BE49-F238E27FC236}">
                <a16:creationId xmlns="" xmlns:a16="http://schemas.microsoft.com/office/drawing/2014/main" id="{80EB0614-9A2E-4A31-8073-A1F2DE177053}"/>
              </a:ext>
            </a:extLst>
          </p:cNvPr>
          <p:cNvSpPr/>
          <p:nvPr/>
        </p:nvSpPr>
        <p:spPr>
          <a:xfrm>
            <a:off x="10238074" y="3406071"/>
            <a:ext cx="288956" cy="222324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357" name="直接箭头连接符 356">
            <a:extLst>
              <a:ext uri="{FF2B5EF4-FFF2-40B4-BE49-F238E27FC236}">
                <a16:creationId xmlns="" xmlns:a16="http://schemas.microsoft.com/office/drawing/2014/main" id="{3A12009A-73C3-4DD8-AE31-AADB1778BE74}"/>
              </a:ext>
            </a:extLst>
          </p:cNvPr>
          <p:cNvCxnSpPr>
            <a:cxnSpLocks/>
            <a:endCxn id="359" idx="2"/>
          </p:cNvCxnSpPr>
          <p:nvPr/>
        </p:nvCxnSpPr>
        <p:spPr>
          <a:xfrm flipV="1">
            <a:off x="9759588" y="4716380"/>
            <a:ext cx="478486" cy="530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椭圆 358">
            <a:extLst>
              <a:ext uri="{FF2B5EF4-FFF2-40B4-BE49-F238E27FC236}">
                <a16:creationId xmlns="" xmlns:a16="http://schemas.microsoft.com/office/drawing/2014/main" id="{DDFD9191-DAC0-4D67-90B4-7D50069F7CE0}"/>
              </a:ext>
            </a:extLst>
          </p:cNvPr>
          <p:cNvSpPr/>
          <p:nvPr/>
        </p:nvSpPr>
        <p:spPr>
          <a:xfrm>
            <a:off x="10238074" y="4605218"/>
            <a:ext cx="288956" cy="222324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362" name="直接连接符 361">
            <a:extLst>
              <a:ext uri="{FF2B5EF4-FFF2-40B4-BE49-F238E27FC236}">
                <a16:creationId xmlns="" xmlns:a16="http://schemas.microsoft.com/office/drawing/2014/main" id="{592F01FD-459D-4BB4-A7C9-78F0519DA38D}"/>
              </a:ext>
            </a:extLst>
          </p:cNvPr>
          <p:cNvCxnSpPr>
            <a:stCxn id="38" idx="0"/>
          </p:cNvCxnSpPr>
          <p:nvPr/>
        </p:nvCxnSpPr>
        <p:spPr>
          <a:xfrm flipV="1">
            <a:off x="514629" y="1242874"/>
            <a:ext cx="9154" cy="11365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>
            <a:extLst>
              <a:ext uri="{FF2B5EF4-FFF2-40B4-BE49-F238E27FC236}">
                <a16:creationId xmlns="" xmlns:a16="http://schemas.microsoft.com/office/drawing/2014/main" id="{4FD0F7B5-479A-4D8C-AC45-48DF7911BAF2}"/>
              </a:ext>
            </a:extLst>
          </p:cNvPr>
          <p:cNvCxnSpPr/>
          <p:nvPr/>
        </p:nvCxnSpPr>
        <p:spPr>
          <a:xfrm>
            <a:off x="517829" y="1242874"/>
            <a:ext cx="98647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箭头连接符 365">
            <a:extLst>
              <a:ext uri="{FF2B5EF4-FFF2-40B4-BE49-F238E27FC236}">
                <a16:creationId xmlns="" xmlns:a16="http://schemas.microsoft.com/office/drawing/2014/main" id="{9001BB21-8155-4B19-ACAC-7E9611DA37C8}"/>
              </a:ext>
            </a:extLst>
          </p:cNvPr>
          <p:cNvCxnSpPr>
            <a:cxnSpLocks/>
            <a:endCxn id="356" idx="0"/>
          </p:cNvCxnSpPr>
          <p:nvPr/>
        </p:nvCxnSpPr>
        <p:spPr>
          <a:xfrm>
            <a:off x="10382552" y="1242874"/>
            <a:ext cx="0" cy="2163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直接连接符 366">
            <a:extLst>
              <a:ext uri="{FF2B5EF4-FFF2-40B4-BE49-F238E27FC236}">
                <a16:creationId xmlns="" xmlns:a16="http://schemas.microsoft.com/office/drawing/2014/main" id="{A03DFEAC-D1C1-4028-B6FE-0CE0A13AF7B5}"/>
              </a:ext>
            </a:extLst>
          </p:cNvPr>
          <p:cNvCxnSpPr>
            <a:cxnSpLocks/>
          </p:cNvCxnSpPr>
          <p:nvPr/>
        </p:nvCxnSpPr>
        <p:spPr>
          <a:xfrm flipH="1" flipV="1">
            <a:off x="511622" y="5071965"/>
            <a:ext cx="6207" cy="9325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直接连接符 368">
            <a:extLst>
              <a:ext uri="{FF2B5EF4-FFF2-40B4-BE49-F238E27FC236}">
                <a16:creationId xmlns="" xmlns:a16="http://schemas.microsoft.com/office/drawing/2014/main" id="{ECE56112-F42E-4B20-868B-0F803F7F44C3}"/>
              </a:ext>
            </a:extLst>
          </p:cNvPr>
          <p:cNvCxnSpPr/>
          <p:nvPr/>
        </p:nvCxnSpPr>
        <p:spPr>
          <a:xfrm>
            <a:off x="519206" y="6004560"/>
            <a:ext cx="98647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="" xmlns:a16="http://schemas.microsoft.com/office/drawing/2014/main" id="{510904B8-BABC-4BB6-94F1-2AB3BDA3FDDE}"/>
              </a:ext>
            </a:extLst>
          </p:cNvPr>
          <p:cNvCxnSpPr>
            <a:cxnSpLocks/>
            <a:endCxn id="359" idx="4"/>
          </p:cNvCxnSpPr>
          <p:nvPr/>
        </p:nvCxnSpPr>
        <p:spPr>
          <a:xfrm flipV="1">
            <a:off x="10382552" y="4827542"/>
            <a:ext cx="0" cy="11800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直接箭头连接符 373">
            <a:extLst>
              <a:ext uri="{FF2B5EF4-FFF2-40B4-BE49-F238E27FC236}">
                <a16:creationId xmlns="" xmlns:a16="http://schemas.microsoft.com/office/drawing/2014/main" id="{40B90E14-9A8F-434C-888A-D4E198FF6D9F}"/>
              </a:ext>
            </a:extLst>
          </p:cNvPr>
          <p:cNvCxnSpPr>
            <a:cxnSpLocks/>
            <a:stCxn id="356" idx="5"/>
            <a:endCxn id="377" idx="0"/>
          </p:cNvCxnSpPr>
          <p:nvPr/>
        </p:nvCxnSpPr>
        <p:spPr>
          <a:xfrm>
            <a:off x="10484713" y="3595836"/>
            <a:ext cx="199297" cy="3903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直接箭头连接符 375">
            <a:extLst>
              <a:ext uri="{FF2B5EF4-FFF2-40B4-BE49-F238E27FC236}">
                <a16:creationId xmlns="" xmlns:a16="http://schemas.microsoft.com/office/drawing/2014/main" id="{FD965CE6-8A90-4A17-9E71-8BA2D85C10DE}"/>
              </a:ext>
            </a:extLst>
          </p:cNvPr>
          <p:cNvCxnSpPr>
            <a:cxnSpLocks/>
            <a:stCxn id="359" idx="7"/>
            <a:endCxn id="377" idx="4"/>
          </p:cNvCxnSpPr>
          <p:nvPr/>
        </p:nvCxnSpPr>
        <p:spPr>
          <a:xfrm flipV="1">
            <a:off x="10484713" y="4163582"/>
            <a:ext cx="199297" cy="4741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椭圆 376">
            <a:extLst>
              <a:ext uri="{FF2B5EF4-FFF2-40B4-BE49-F238E27FC236}">
                <a16:creationId xmlns="" xmlns:a16="http://schemas.microsoft.com/office/drawing/2014/main" id="{145D2D2C-4C43-4606-A92A-FC005AB16F4E}"/>
              </a:ext>
            </a:extLst>
          </p:cNvPr>
          <p:cNvSpPr/>
          <p:nvPr/>
        </p:nvSpPr>
        <p:spPr>
          <a:xfrm>
            <a:off x="10549936" y="3986218"/>
            <a:ext cx="268147" cy="177364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cxnSp>
        <p:nvCxnSpPr>
          <p:cNvPr id="388" name="直接箭头连接符 387">
            <a:extLst>
              <a:ext uri="{FF2B5EF4-FFF2-40B4-BE49-F238E27FC236}">
                <a16:creationId xmlns="" xmlns:a16="http://schemas.microsoft.com/office/drawing/2014/main" id="{E7239439-A4E4-4AA3-93CA-2D8AE5BF045E}"/>
              </a:ext>
            </a:extLst>
          </p:cNvPr>
          <p:cNvCxnSpPr>
            <a:cxnSpLocks/>
          </p:cNvCxnSpPr>
          <p:nvPr/>
        </p:nvCxnSpPr>
        <p:spPr>
          <a:xfrm>
            <a:off x="10818083" y="4082846"/>
            <a:ext cx="21803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立方体 389">
            <a:extLst>
              <a:ext uri="{FF2B5EF4-FFF2-40B4-BE49-F238E27FC236}">
                <a16:creationId xmlns="" xmlns:a16="http://schemas.microsoft.com/office/drawing/2014/main" id="{50522422-85B4-4DAF-A6EB-DF4DD74980E3}"/>
              </a:ext>
            </a:extLst>
          </p:cNvPr>
          <p:cNvSpPr/>
          <p:nvPr/>
        </p:nvSpPr>
        <p:spPr>
          <a:xfrm>
            <a:off x="11091392" y="3838231"/>
            <a:ext cx="484094" cy="473337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1" name="TextBox 124">
                <a:extLst>
                  <a:ext uri="{FF2B5EF4-FFF2-40B4-BE49-F238E27FC236}">
                    <a16:creationId xmlns="" xmlns:a16="http://schemas.microsoft.com/office/drawing/2014/main" id="{2A09CB6B-2268-4613-AB88-BA6A8679F0F4}"/>
                  </a:ext>
                </a:extLst>
              </p:cNvPr>
              <p:cNvSpPr txBox="1"/>
              <p:nvPr/>
            </p:nvSpPr>
            <p:spPr>
              <a:xfrm>
                <a:off x="11028415" y="3536626"/>
                <a:ext cx="60465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m:rPr>
                          <m:sty m:val="p"/>
                        </m:rPr>
                        <a:rPr lang="en-US" altLang="zh-CN" sz="1000" i="1" dirty="0">
                          <a:latin typeface="Cambria Math" panose="02040503050406030204" pitchFamily="18" charset="0"/>
                        </a:rPr>
                        <m:t>ut</m:t>
                      </m:r>
                      <m:r>
                        <m:rPr>
                          <m:sty m:val="p"/>
                        </m:rP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put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91" name="TextBox 124">
                <a:extLst>
                  <a:ext uri="{FF2B5EF4-FFF2-40B4-BE49-F238E27FC236}">
                    <a16:creationId xmlns:a16="http://schemas.microsoft.com/office/drawing/2014/main" id="{2A09CB6B-2268-4613-AB88-BA6A8679F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8415" y="3536626"/>
                <a:ext cx="604653" cy="2462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TextBox 124">
                <a:extLst>
                  <a:ext uri="{FF2B5EF4-FFF2-40B4-BE49-F238E27FC236}">
                    <a16:creationId xmlns="" xmlns:a16="http://schemas.microsoft.com/office/drawing/2014/main" id="{1B431EAD-C4B2-4D26-BE68-9FEBFB6F05B8}"/>
                  </a:ext>
                </a:extLst>
              </p:cNvPr>
              <p:cNvSpPr txBox="1"/>
              <p:nvPr/>
            </p:nvSpPr>
            <p:spPr>
              <a:xfrm>
                <a:off x="-36561" y="2108724"/>
                <a:ext cx="36740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92" name="TextBox 124">
                <a:extLst>
                  <a:ext uri="{FF2B5EF4-FFF2-40B4-BE49-F238E27FC236}">
                    <a16:creationId xmlns:a16="http://schemas.microsoft.com/office/drawing/2014/main" id="{1B431EAD-C4B2-4D26-BE68-9FEBFB6F0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61" y="2108724"/>
                <a:ext cx="367408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TextBox 124">
                <a:extLst>
                  <a:ext uri="{FF2B5EF4-FFF2-40B4-BE49-F238E27FC236}">
                    <a16:creationId xmlns="" xmlns:a16="http://schemas.microsoft.com/office/drawing/2014/main" id="{E6C48F50-28F6-4885-8822-35724ED9D57D}"/>
                  </a:ext>
                </a:extLst>
              </p:cNvPr>
              <p:cNvSpPr txBox="1"/>
              <p:nvPr/>
            </p:nvSpPr>
            <p:spPr>
              <a:xfrm>
                <a:off x="-21953" y="4367593"/>
                <a:ext cx="36740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93" name="TextBox 124">
                <a:extLst>
                  <a:ext uri="{FF2B5EF4-FFF2-40B4-BE49-F238E27FC236}">
                    <a16:creationId xmlns:a16="http://schemas.microsoft.com/office/drawing/2014/main" id="{E6C48F50-28F6-4885-8822-35724ED9D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953" y="4367593"/>
                <a:ext cx="367408" cy="2462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TextBox 124">
                <a:extLst>
                  <a:ext uri="{FF2B5EF4-FFF2-40B4-BE49-F238E27FC236}">
                    <a16:creationId xmlns="" xmlns:a16="http://schemas.microsoft.com/office/drawing/2014/main" id="{BCD8FBA1-55E7-4617-93AF-463CD68B0AB0}"/>
                  </a:ext>
                </a:extLst>
              </p:cNvPr>
              <p:cNvSpPr txBox="1"/>
              <p:nvPr/>
            </p:nvSpPr>
            <p:spPr>
              <a:xfrm>
                <a:off x="5246745" y="4257383"/>
                <a:ext cx="119481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𝑆𝑝𝑎𝑡𝑖𝑎𝑙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𝐹𝑒𝑎𝑡𝑢𝑟𝑒𝑠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94" name="TextBox 124">
                <a:extLst>
                  <a:ext uri="{FF2B5EF4-FFF2-40B4-BE49-F238E27FC236}">
                    <a16:creationId xmlns:a16="http://schemas.microsoft.com/office/drawing/2014/main" id="{BCD8FBA1-55E7-4617-93AF-463CD68B0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745" y="4257383"/>
                <a:ext cx="1194814" cy="246221"/>
              </a:xfrm>
              <a:prstGeom prst="rect">
                <a:avLst/>
              </a:prstGeom>
              <a:blipFill>
                <a:blip r:embed="rId18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124">
                <a:extLst>
                  <a:ext uri="{FF2B5EF4-FFF2-40B4-BE49-F238E27FC236}">
                    <a16:creationId xmlns="" xmlns:a16="http://schemas.microsoft.com/office/drawing/2014/main" id="{CD7DDAED-5BBF-475B-860C-06032659CFA2}"/>
                  </a:ext>
                </a:extLst>
              </p:cNvPr>
              <p:cNvSpPr txBox="1"/>
              <p:nvPr/>
            </p:nvSpPr>
            <p:spPr>
              <a:xfrm rot="19959188">
                <a:off x="6314675" y="4208507"/>
                <a:ext cx="9524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𝐶𝑜𝑛𝑣𝑜𝑙𝑢𝑡𝑖𝑜𝑛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395" name="TextBox 124">
                <a:extLst>
                  <a:ext uri="{FF2B5EF4-FFF2-40B4-BE49-F238E27FC236}">
                    <a16:creationId xmlns:a16="http://schemas.microsoft.com/office/drawing/2014/main" id="{CD7DDAED-5BBF-475B-860C-06032659C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59188">
                <a:off x="6314675" y="4208507"/>
                <a:ext cx="952440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124">
                <a:extLst>
                  <a:ext uri="{FF2B5EF4-FFF2-40B4-BE49-F238E27FC236}">
                    <a16:creationId xmlns="" xmlns:a16="http://schemas.microsoft.com/office/drawing/2014/main" id="{CD7DDAED-5BBF-475B-860C-06032659CFA2}"/>
                  </a:ext>
                </a:extLst>
              </p:cNvPr>
              <p:cNvSpPr txBox="1"/>
              <p:nvPr/>
            </p:nvSpPr>
            <p:spPr>
              <a:xfrm rot="1660648">
                <a:off x="6241379" y="5106077"/>
                <a:ext cx="95244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𝐶𝑜𝑛𝑣𝑜𝑙𝑢𝑡𝑖𝑜𝑛</m:t>
                      </m:r>
                      <m:r>
                        <a:rPr lang="en-US" altLang="zh-CN" sz="8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216" name="TextBox 1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7DDAED-5BBF-475B-860C-06032659C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60648">
                <a:off x="6241379" y="5106077"/>
                <a:ext cx="952440" cy="215444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矩形 216"/>
          <p:cNvSpPr/>
          <p:nvPr/>
        </p:nvSpPr>
        <p:spPr>
          <a:xfrm>
            <a:off x="2070091" y="6198385"/>
            <a:ext cx="352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BFM (</a:t>
            </a:r>
            <a:r>
              <a:rPr lang="zh-CN" altLang="en-US" dirty="0" smtClean="0"/>
              <a:t>双</a:t>
            </a:r>
            <a:r>
              <a:rPr lang="zh-CN" altLang="en-US" dirty="0"/>
              <a:t>时</a:t>
            </a:r>
            <a:r>
              <a:rPr lang="en-US" altLang="zh-CN" dirty="0"/>
              <a:t>(Bitemporal)</a:t>
            </a:r>
            <a:r>
              <a:rPr lang="zh-CN" altLang="en-US" dirty="0"/>
              <a:t>融合模块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67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3502</TotalTime>
  <Words>360</Words>
  <Application>Microsoft Office PowerPoint</Application>
  <PresentationFormat>自定义</PresentationFormat>
  <Paragraphs>178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小伟学长</dc:creator>
  <cp:lastModifiedBy>liangwei</cp:lastModifiedBy>
  <cp:revision>148</cp:revision>
  <dcterms:created xsi:type="dcterms:W3CDTF">2024-06-04T14:32:08Z</dcterms:created>
  <dcterms:modified xsi:type="dcterms:W3CDTF">2024-06-13T04:19:20Z</dcterms:modified>
</cp:coreProperties>
</file>